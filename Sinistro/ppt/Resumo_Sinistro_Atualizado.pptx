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97" r:id="rId2"/>
    <p:sldId id="321" r:id="rId3"/>
    <p:sldId id="319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édio 1 - Ênfase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Estilo Médio 1 - Ênfase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Estilo Mé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Estilo Escuro 2 - Ênfase 5/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660B408-B3CF-4A94-85FC-2B1E0A45F4A2}" styleName="Estilo Escuro 2 - Ênfase 1/Ênfas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Estilo Escuro 2 - Ênfase 3/Ênfase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E171933-4619-4E11-9A3F-F7608DF75F80}" styleName="Estilo Médio 1 - Ênfas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BDBED569-4797-4DF1-A0F4-6AAB3CD982D8}" styleName="Estilo Claro 3 - Ênfase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Ênfas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63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75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EB1DFD-7E9A-4C78-B202-028BCECD9D42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08144F-FE56-4BC6-A24C-1077E736F0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602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Relationship Id="rId3" Type="http://schemas.openxmlformats.org/officeDocument/2006/relationships/hyperlink" Target="https://unsplash.com/@brookecagle?utm_source=unsplash&amp;utm_medium=referral&amp;utm_content=creditCopyText" TargetMode="External"/><Relationship Id="rId4" Type="http://schemas.openxmlformats.org/officeDocument/2006/relationships/hyperlink" Target="https://unsplash.com/?utm_source=unsplash&amp;utm_medium=referral&amp;utm_content=creditCopyTex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9C5BD-6F95-782C-B82A-F0355C29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936D5E-B184-EFC1-E18C-AAAE520CC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CF2E95-BE1A-D767-2603-83C35A6D89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Photo by </a:t>
            </a:r>
            <a:r>
              <a:rPr lang="pt-BR" dirty="0">
                <a:hlinkClick r:id="rId3"/>
              </a:rPr>
              <a:t>Brooke Cagle</a:t>
            </a:r>
            <a:r>
              <a:rPr lang="pt-BR" dirty="0"/>
              <a:t> on </a:t>
            </a:r>
            <a:r>
              <a:rPr lang="pt-BR" dirty="0">
                <a:hlinkClick r:id="rId4"/>
              </a:rPr>
              <a:t>Unsplash</a:t>
            </a:r>
            <a:r>
              <a:rPr lang="pt-BR" dirty="0"/>
              <a:t>: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https://unsplash.com/photos/JBwcenOuRCg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75C6B4E-1E62-A731-023A-2F36BE31F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48B18-2307-6B49-A49C-AEFC4820EDF0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8139935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0FF0-8C44-4910-A1B4-9843A56EBB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CB2DE9-5531-4A08-961A-0000D9BC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B8D6EB-B45D-4038-8249-1DA14711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318D058-CA91-4D9D-8A7B-4FB051F49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77B0F2-DEB6-45D8-AEAA-21270445E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3784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2C90C1-AA0F-48FD-B2D9-38C05E69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47B18D0-8816-44BD-B395-1C8A6AD8B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54EBEA-61C6-4E47-870C-194D7CB2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60AA62-57DA-4CC1-B56C-3DFD8BE98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2E3687-9CEC-47A8-970B-52F2D98F1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4241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E1CB0-714B-4CD3-B787-4ADE306D0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C31E410-53D7-4EB7-8EF1-819C8F878D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04CAA3D-628C-4DF8-86B9-C8E1C70D7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5295D4-8C74-4337-B695-F59AFEAE5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C9AD81-5A25-478B-A84A-E94B2909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1467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FBEBE1-906D-47F8-928D-6D75753D0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9024B-AFFA-4A71-A8E4-4454C0CB20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57B4A8E-5956-4537-BCE7-E7F14BEA6B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C67870-BBAF-46AA-A0DF-C569A41B2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2C9B1B-8470-4B62-8035-8578E49E6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5B22BE-0ACF-4EC3-AEDA-B57F7E90B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7029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5FAAFC-0033-4E0C-9E6D-B97225B8C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E3592F-4397-4FB3-8F3D-68DCCEB22C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4FF879-4E31-40E3-9CC3-5E6C3C088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2F66B0-BFD7-4852-BA2F-BA52AFEBB6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7FD6C8-8160-4FE9-A032-8B6334D22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D9BE47D-F856-494F-84D8-783DCDF2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D8362E8-671B-42D8-B68B-D4C28F629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3602ED6-848A-482D-A5E9-8ED68D8DD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985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05A826-97E4-498F-BBF2-730CF7D59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0296030-B660-4084-A4BC-A6B4BDDD9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E1E32BB-84A4-4692-83F0-6B8FC08EC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3ADC06-BC70-4A38-8D50-EA74234F2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69702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9526A5A-D603-4E55-8633-0297CAD4C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2FF4B49-D18F-4468-B810-3BA5A1F80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368E663-1590-441D-A7EC-2727833CF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655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DB9F36-C21B-412F-886B-0FF1EBB63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C6E38D-DF31-4DF8-ACF1-2688304F18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217158-0FAE-4446-AB1C-392B2B1858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78394E-DFD2-47A9-A968-8A0150A3B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0F0CE1-C804-4D44-BF79-C9128819D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6D01FA-C07F-48B4-B607-458A4C7BB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79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1EB4B5-396D-4BFC-94EA-A7017B27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9607620-34DB-4F5D-96B2-1FCBC5D311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F326435-EEA6-4F39-96FD-4CA1FDFAC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C4E22B-ED1C-44D9-9102-87786779F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223D40-4476-437B-840F-FC35A826CC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EE511E-F738-46B8-B8F1-F6CE5F535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3233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7C194-1604-4F50-8C20-83F28AA88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18B4548-3271-4CF8-81DC-A6B75ACD19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CD0242-1D61-4C05-96D1-A7BA96E5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809F7A-BE87-4BB5-944D-CB39BB0B1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220AF3-3115-45FB-A715-247713D68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5820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214DC69-4607-4D04-9561-D2426E202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2F1E724-027B-444E-B1E9-708ABF5747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BA176F-2C63-40A5-A535-27AF054C5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70073A-A58A-4293-9D5F-CBCF8DC76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BD0318-A0E4-4A11-AE08-3913702A3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1000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rma Livre 2">
            <a:extLst>
              <a:ext uri="{FF2B5EF4-FFF2-40B4-BE49-F238E27FC236}">
                <a16:creationId xmlns:a16="http://schemas.microsoft.com/office/drawing/2014/main" id="{1C1CBA18-CB85-E047-89FA-ECBE55C1B4AF}"/>
              </a:ext>
            </a:extLst>
          </p:cNvPr>
          <p:cNvSpPr/>
          <p:nvPr userDrawn="1"/>
        </p:nvSpPr>
        <p:spPr>
          <a:xfrm>
            <a:off x="0" y="-7170"/>
            <a:ext cx="12192000" cy="6837805"/>
          </a:xfrm>
          <a:custGeom>
            <a:avLst/>
            <a:gdLst>
              <a:gd name="connsiteX0" fmla="*/ 0 w 3492293"/>
              <a:gd name="connsiteY0" fmla="*/ 2267426 h 2267425"/>
              <a:gd name="connsiteX1" fmla="*/ 3492293 w 3492293"/>
              <a:gd name="connsiteY1" fmla="*/ 2267426 h 2267425"/>
              <a:gd name="connsiteX2" fmla="*/ 2527646 w 3492293"/>
              <a:gd name="connsiteY2" fmla="*/ 1635204 h 2267425"/>
              <a:gd name="connsiteX3" fmla="*/ 1645112 w 3492293"/>
              <a:gd name="connsiteY3" fmla="*/ 1103709 h 2267425"/>
              <a:gd name="connsiteX4" fmla="*/ 1354504 w 3492293"/>
              <a:gd name="connsiteY4" fmla="*/ 1139428 h 2267425"/>
              <a:gd name="connsiteX5" fmla="*/ 916093 w 3492293"/>
              <a:gd name="connsiteY5" fmla="*/ 333256 h 2267425"/>
              <a:gd name="connsiteX6" fmla="*/ 734374 w 3492293"/>
              <a:gd name="connsiteY6" fmla="*/ 0 h 2267425"/>
              <a:gd name="connsiteX7" fmla="*/ 0 w 3492293"/>
              <a:gd name="connsiteY7" fmla="*/ 0 h 2267425"/>
              <a:gd name="connsiteX8" fmla="*/ 0 w 3492293"/>
              <a:gd name="connsiteY8" fmla="*/ 2267426 h 2267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92293" h="2267425">
                <a:moveTo>
                  <a:pt x="0" y="2267426"/>
                </a:moveTo>
                <a:lnTo>
                  <a:pt x="3492293" y="2267426"/>
                </a:lnTo>
                <a:cubicBezTo>
                  <a:pt x="3492293" y="2267426"/>
                  <a:pt x="3460162" y="1635204"/>
                  <a:pt x="2527646" y="1635204"/>
                </a:cubicBezTo>
                <a:cubicBezTo>
                  <a:pt x="1905017" y="1635204"/>
                  <a:pt x="2021403" y="1180147"/>
                  <a:pt x="1645112" y="1103709"/>
                </a:cubicBezTo>
                <a:cubicBezTo>
                  <a:pt x="1546934" y="1083707"/>
                  <a:pt x="1444828" y="1096923"/>
                  <a:pt x="1354504" y="1139428"/>
                </a:cubicBezTo>
                <a:cubicBezTo>
                  <a:pt x="559081" y="1513046"/>
                  <a:pt x="350943" y="535067"/>
                  <a:pt x="916093" y="333256"/>
                </a:cubicBezTo>
                <a:cubicBezTo>
                  <a:pt x="1077106" y="275749"/>
                  <a:pt x="1135299" y="0"/>
                  <a:pt x="734374" y="0"/>
                </a:cubicBezTo>
                <a:lnTo>
                  <a:pt x="0" y="0"/>
                </a:lnTo>
                <a:lnTo>
                  <a:pt x="0" y="2267426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t-BR" dirty="0"/>
          </a:p>
        </p:txBody>
      </p:sp>
      <p:sp>
        <p:nvSpPr>
          <p:cNvPr id="17" name="Espaço Reservado para Imagem 16">
            <a:extLst>
              <a:ext uri="{FF2B5EF4-FFF2-40B4-BE49-F238E27FC236}">
                <a16:creationId xmlns:a16="http://schemas.microsoft.com/office/drawing/2014/main" id="{E35C5E05-ADCC-3E4F-B770-F6B44C5AA12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661" y="1508767"/>
            <a:ext cx="3573270" cy="3573268"/>
          </a:xfrm>
          <a:custGeom>
            <a:avLst/>
            <a:gdLst>
              <a:gd name="connsiteX0" fmla="*/ 1786635 w 3573270"/>
              <a:gd name="connsiteY0" fmla="*/ 0 h 3573268"/>
              <a:gd name="connsiteX1" fmla="*/ 3573270 w 3573270"/>
              <a:gd name="connsiteY1" fmla="*/ 1786634 h 3573268"/>
              <a:gd name="connsiteX2" fmla="*/ 1786635 w 3573270"/>
              <a:gd name="connsiteY2" fmla="*/ 3573268 h 3573268"/>
              <a:gd name="connsiteX3" fmla="*/ 0 w 3573270"/>
              <a:gd name="connsiteY3" fmla="*/ 1786634 h 3573268"/>
              <a:gd name="connsiteX4" fmla="*/ 1786635 w 3573270"/>
              <a:gd name="connsiteY4" fmla="*/ 0 h 35732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3270" h="3573268">
                <a:moveTo>
                  <a:pt x="1786635" y="0"/>
                </a:moveTo>
                <a:cubicBezTo>
                  <a:pt x="2773366" y="0"/>
                  <a:pt x="3573270" y="799903"/>
                  <a:pt x="3573270" y="1786634"/>
                </a:cubicBezTo>
                <a:cubicBezTo>
                  <a:pt x="3573270" y="2773365"/>
                  <a:pt x="2773366" y="3573268"/>
                  <a:pt x="1786635" y="3573268"/>
                </a:cubicBezTo>
                <a:cubicBezTo>
                  <a:pt x="799904" y="3573268"/>
                  <a:pt x="0" y="2773365"/>
                  <a:pt x="0" y="1786634"/>
                </a:cubicBezTo>
                <a:cubicBezTo>
                  <a:pt x="0" y="799903"/>
                  <a:pt x="799904" y="0"/>
                  <a:pt x="178663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pt-BR" dirty="0"/>
          </a:p>
        </p:txBody>
      </p:sp>
      <p:sp>
        <p:nvSpPr>
          <p:cNvPr id="8" name="Título 8">
            <a:extLst>
              <a:ext uri="{FF2B5EF4-FFF2-40B4-BE49-F238E27FC236}">
                <a16:creationId xmlns:a16="http://schemas.microsoft.com/office/drawing/2014/main" id="{C3184C44-723A-1A44-ABC6-2EDA913196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5837" y="822425"/>
            <a:ext cx="6681368" cy="1073425"/>
          </a:xfrm>
        </p:spPr>
        <p:txBody>
          <a:bodyPr/>
          <a:lstStyle>
            <a:lvl1pPr algn="l">
              <a:defRPr sz="3600">
                <a:solidFill>
                  <a:schemeClr val="accent4"/>
                </a:solidFill>
              </a:defRPr>
            </a:lvl1pPr>
          </a:lstStyle>
          <a:p>
            <a:r>
              <a:rPr lang="pt-BR" dirty="0"/>
              <a:t>INSIRA AQUI UM TÍTULO</a:t>
            </a:r>
          </a:p>
        </p:txBody>
      </p:sp>
      <p:sp>
        <p:nvSpPr>
          <p:cNvPr id="9" name="Espaço Reservado para Texto 10">
            <a:extLst>
              <a:ext uri="{FF2B5EF4-FFF2-40B4-BE49-F238E27FC236}">
                <a16:creationId xmlns:a16="http://schemas.microsoft.com/office/drawing/2014/main" id="{E9F73AAF-E19E-E444-B34F-05EEC07EA8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5837" y="2308052"/>
            <a:ext cx="6015256" cy="658044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1" i="0">
                <a:solidFill>
                  <a:schemeClr val="bg1"/>
                </a:solidFill>
                <a:latin typeface="Montserra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SUBTÍTULO</a:t>
            </a:r>
          </a:p>
        </p:txBody>
      </p:sp>
      <p:sp>
        <p:nvSpPr>
          <p:cNvPr id="10" name="Espaço Reservado para Texto 10">
            <a:extLst>
              <a:ext uri="{FF2B5EF4-FFF2-40B4-BE49-F238E27FC236}">
                <a16:creationId xmlns:a16="http://schemas.microsoft.com/office/drawing/2014/main" id="{D0BCC47D-3D7E-7447-8F86-1F792ACAD36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5837" y="2993460"/>
            <a:ext cx="6015256" cy="32730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000" b="0" i="0">
                <a:solidFill>
                  <a:schemeClr val="bg1"/>
                </a:solidFill>
                <a:latin typeface="Montserrat Light" pitchFamily="2" charset="77"/>
              </a:defRPr>
            </a:lvl1pPr>
            <a:lvl4pPr marL="1371600" indent="0">
              <a:buNone/>
              <a:defRPr/>
            </a:lvl4pPr>
          </a:lstStyle>
          <a:p>
            <a:pPr lvl="0"/>
            <a:r>
              <a:rPr lang="pt-BR" dirty="0"/>
              <a:t>Insira aqui um texto mais extenso. Esta é uma caixa de texto maior que possibilita o desenvolvimento de um texto mais longo para abordar algum assunto com mais detalhamento. Mas fica aqui a dica que mesmo assim vale sempre enxugar ao máximo os textos das apresentações. Resumir os assuntos oferecendo um conteúdo mais limpo e objetivo contribuirá para que seu público sinta maior leveza e foco durante leitura de sua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102427555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3EB5ED5-E303-4244-87DA-929F8BFC1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FEE580-1B86-4B02-AD6E-38CDD2389E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80A1998-DA85-4809-A9FE-3452D6A259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E32925-7E83-4EF3-B48D-718C9D87057D}" type="datetimeFigureOut">
              <a:rPr lang="pt-BR" smtClean="0"/>
              <a:t>02/04/2025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F89C03C-4968-40DC-BD62-8C06A9CE54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7B1BD9-D2BF-40FD-86E7-2E6CAEC38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E7B9B7-9146-498D-A580-F5792635A3D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4973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g"/><Relationship Id="rId7" Type="http://schemas.openxmlformats.org/officeDocument/2006/relationships/image" Target="../media/image5.jpg"/><Relationship Id="rId8" Type="http://schemas.openxmlformats.org/officeDocument/2006/relationships/image" Target="../media/image6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5C27B-63BD-1B76-E4A2-059AC1986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orma Livre 20">
            <a:extLst>
              <a:ext uri="{FF2B5EF4-FFF2-40B4-BE49-F238E27FC236}">
                <a16:creationId xmlns:a16="http://schemas.microsoft.com/office/drawing/2014/main" id="{E0D7D729-6414-617F-30EF-1122B9E5189D}"/>
              </a:ext>
            </a:extLst>
          </p:cNvPr>
          <p:cNvSpPr/>
          <p:nvPr/>
        </p:nvSpPr>
        <p:spPr>
          <a:xfrm>
            <a:off x="10948533" y="-7170"/>
            <a:ext cx="1243465" cy="3107557"/>
          </a:xfrm>
          <a:custGeom>
            <a:avLst/>
            <a:gdLst>
              <a:gd name="connsiteX0" fmla="*/ 1986004 w 1986003"/>
              <a:gd name="connsiteY0" fmla="*/ 0 h 3769233"/>
              <a:gd name="connsiteX1" fmla="*/ 14996 w 1986003"/>
              <a:gd name="connsiteY1" fmla="*/ 997267 h 3769233"/>
              <a:gd name="connsiteX2" fmla="*/ 756803 w 1986003"/>
              <a:gd name="connsiteY2" fmla="*/ 2442401 h 3769233"/>
              <a:gd name="connsiteX3" fmla="*/ 1986004 w 1986003"/>
              <a:gd name="connsiteY3" fmla="*/ 3769233 h 3769233"/>
              <a:gd name="connsiteX4" fmla="*/ 1986004 w 1986003"/>
              <a:gd name="connsiteY4" fmla="*/ 0 h 3769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6003" h="3769233">
                <a:moveTo>
                  <a:pt x="1986004" y="0"/>
                </a:moveTo>
                <a:cubicBezTo>
                  <a:pt x="1986004" y="0"/>
                  <a:pt x="170444" y="67627"/>
                  <a:pt x="14996" y="997267"/>
                </a:cubicBezTo>
                <a:cubicBezTo>
                  <a:pt x="-140452" y="1926908"/>
                  <a:pt x="968734" y="1732502"/>
                  <a:pt x="756803" y="2442401"/>
                </a:cubicBezTo>
                <a:cubicBezTo>
                  <a:pt x="544871" y="3152299"/>
                  <a:pt x="1526804" y="3769233"/>
                  <a:pt x="1986004" y="3769233"/>
                </a:cubicBezTo>
                <a:lnTo>
                  <a:pt x="1986004" y="0"/>
                </a:ln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  <a:effectLst>
            <a:outerShdw blurRad="749300" dist="355600" dir="2160000" algn="tl" rotWithShape="0">
              <a:prstClr val="black">
                <a:alpha val="40000"/>
              </a:prstClr>
            </a:outerShdw>
          </a:effectLst>
        </p:spPr>
        <p:txBody>
          <a:bodyPr rtlCol="0" anchor="ctr"/>
          <a:lstStyle/>
          <a:p>
            <a:endParaRPr lang="pt-BR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B26597EF-552A-BC99-50CC-3CCDF1AC931B}"/>
              </a:ext>
            </a:extLst>
          </p:cNvPr>
          <p:cNvGrpSpPr/>
          <p:nvPr/>
        </p:nvGrpSpPr>
        <p:grpSpPr>
          <a:xfrm rot="1249263">
            <a:off x="537358" y="907212"/>
            <a:ext cx="4585770" cy="4776376"/>
            <a:chOff x="5221962" y="864409"/>
            <a:chExt cx="1801177" cy="1876043"/>
          </a:xfrm>
          <a:solidFill>
            <a:schemeClr val="accent4"/>
          </a:solidFill>
        </p:grpSpPr>
        <p:sp>
          <p:nvSpPr>
            <p:cNvPr id="27" name="Forma Livre 26">
              <a:extLst>
                <a:ext uri="{FF2B5EF4-FFF2-40B4-BE49-F238E27FC236}">
                  <a16:creationId xmlns:a16="http://schemas.microsoft.com/office/drawing/2014/main" id="{AA2C97C3-4D27-6A1E-9418-CF100DD84947}"/>
                </a:ext>
              </a:extLst>
            </p:cNvPr>
            <p:cNvSpPr/>
            <p:nvPr/>
          </p:nvSpPr>
          <p:spPr>
            <a:xfrm>
              <a:off x="5308830" y="989091"/>
              <a:ext cx="1627250" cy="1627251"/>
            </a:xfrm>
            <a:custGeom>
              <a:avLst/>
              <a:gdLst>
                <a:gd name="connsiteX0" fmla="*/ 813626 w 1627250"/>
                <a:gd name="connsiteY0" fmla="*/ 1627251 h 1627251"/>
                <a:gd name="connsiteX1" fmla="*/ 0 w 1627250"/>
                <a:gd name="connsiteY1" fmla="*/ 813626 h 1627251"/>
                <a:gd name="connsiteX2" fmla="*/ 813626 w 1627250"/>
                <a:gd name="connsiteY2" fmla="*/ 0 h 1627251"/>
                <a:gd name="connsiteX3" fmla="*/ 1627251 w 1627250"/>
                <a:gd name="connsiteY3" fmla="*/ 813626 h 1627251"/>
                <a:gd name="connsiteX4" fmla="*/ 813626 w 1627250"/>
                <a:gd name="connsiteY4" fmla="*/ 1627251 h 1627251"/>
                <a:gd name="connsiteX5" fmla="*/ 813626 w 1627250"/>
                <a:gd name="connsiteY5" fmla="*/ 47625 h 1627251"/>
                <a:gd name="connsiteX6" fmla="*/ 47625 w 1627250"/>
                <a:gd name="connsiteY6" fmla="*/ 813626 h 1627251"/>
                <a:gd name="connsiteX7" fmla="*/ 813626 w 1627250"/>
                <a:gd name="connsiteY7" fmla="*/ 1579626 h 1627251"/>
                <a:gd name="connsiteX8" fmla="*/ 1579626 w 1627250"/>
                <a:gd name="connsiteY8" fmla="*/ 813626 h 1627251"/>
                <a:gd name="connsiteX9" fmla="*/ 813626 w 1627250"/>
                <a:gd name="connsiteY9" fmla="*/ 47625 h 1627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627250" h="1627251">
                  <a:moveTo>
                    <a:pt x="813626" y="1627251"/>
                  </a:moveTo>
                  <a:cubicBezTo>
                    <a:pt x="364998" y="1627251"/>
                    <a:pt x="0" y="1262253"/>
                    <a:pt x="0" y="813626"/>
                  </a:cubicBezTo>
                  <a:cubicBezTo>
                    <a:pt x="0" y="364998"/>
                    <a:pt x="364998" y="0"/>
                    <a:pt x="813626" y="0"/>
                  </a:cubicBezTo>
                  <a:cubicBezTo>
                    <a:pt x="1262253" y="0"/>
                    <a:pt x="1627251" y="364998"/>
                    <a:pt x="1627251" y="813626"/>
                  </a:cubicBezTo>
                  <a:cubicBezTo>
                    <a:pt x="1627251" y="1262253"/>
                    <a:pt x="1262253" y="1627251"/>
                    <a:pt x="813626" y="1627251"/>
                  </a:cubicBezTo>
                  <a:close/>
                  <a:moveTo>
                    <a:pt x="813626" y="47625"/>
                  </a:moveTo>
                  <a:cubicBezTo>
                    <a:pt x="391287" y="47625"/>
                    <a:pt x="47625" y="391287"/>
                    <a:pt x="47625" y="813626"/>
                  </a:cubicBezTo>
                  <a:cubicBezTo>
                    <a:pt x="47625" y="1235964"/>
                    <a:pt x="391287" y="1579626"/>
                    <a:pt x="813626" y="1579626"/>
                  </a:cubicBezTo>
                  <a:cubicBezTo>
                    <a:pt x="1235964" y="1579626"/>
                    <a:pt x="1579626" y="1235964"/>
                    <a:pt x="1579626" y="813626"/>
                  </a:cubicBezTo>
                  <a:cubicBezTo>
                    <a:pt x="1579626" y="391287"/>
                    <a:pt x="1235964" y="47625"/>
                    <a:pt x="813626" y="4762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8" name="Forma Livre 27">
              <a:extLst>
                <a:ext uri="{FF2B5EF4-FFF2-40B4-BE49-F238E27FC236}">
                  <a16:creationId xmlns:a16="http://schemas.microsoft.com/office/drawing/2014/main" id="{BF5E8C03-B8A5-B83F-5970-C66A1C957EE3}"/>
                </a:ext>
              </a:extLst>
            </p:cNvPr>
            <p:cNvSpPr/>
            <p:nvPr/>
          </p:nvSpPr>
          <p:spPr>
            <a:xfrm>
              <a:off x="5221962" y="902032"/>
              <a:ext cx="900588" cy="900684"/>
            </a:xfrm>
            <a:custGeom>
              <a:avLst/>
              <a:gdLst>
                <a:gd name="connsiteX0" fmla="*/ 25336 w 900588"/>
                <a:gd name="connsiteY0" fmla="*/ 900684 h 900684"/>
                <a:gd name="connsiteX1" fmla="*/ 25336 w 900588"/>
                <a:gd name="connsiteY1" fmla="*/ 900684 h 900684"/>
                <a:gd name="connsiteX2" fmla="*/ 900589 w 900588"/>
                <a:gd name="connsiteY2" fmla="*/ 25432 h 900684"/>
                <a:gd name="connsiteX3" fmla="*/ 900589 w 900588"/>
                <a:gd name="connsiteY3" fmla="*/ 0 h 900684"/>
                <a:gd name="connsiteX4" fmla="*/ 0 w 900588"/>
                <a:gd name="connsiteY4" fmla="*/ 900589 h 900684"/>
                <a:gd name="connsiteX5" fmla="*/ 0 w 900588"/>
                <a:gd name="connsiteY5" fmla="*/ 900589 h 900684"/>
                <a:gd name="connsiteX6" fmla="*/ 25336 w 900588"/>
                <a:gd name="connsiteY6" fmla="*/ 900589 h 900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0588" h="900684">
                  <a:moveTo>
                    <a:pt x="25336" y="900684"/>
                  </a:moveTo>
                  <a:cubicBezTo>
                    <a:pt x="25336" y="900684"/>
                    <a:pt x="25336" y="900684"/>
                    <a:pt x="25336" y="900684"/>
                  </a:cubicBezTo>
                  <a:cubicBezTo>
                    <a:pt x="25336" y="418052"/>
                    <a:pt x="417957" y="25432"/>
                    <a:pt x="900589" y="25432"/>
                  </a:cubicBezTo>
                  <a:lnTo>
                    <a:pt x="900589" y="0"/>
                  </a:lnTo>
                  <a:cubicBezTo>
                    <a:pt x="403955" y="0"/>
                    <a:pt x="0" y="404051"/>
                    <a:pt x="0" y="900589"/>
                  </a:cubicBezTo>
                  <a:cubicBezTo>
                    <a:pt x="0" y="900589"/>
                    <a:pt x="0" y="900589"/>
                    <a:pt x="0" y="900589"/>
                  </a:cubicBezTo>
                  <a:lnTo>
                    <a:pt x="25336" y="90058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29" name="Forma Livre 28">
              <a:extLst>
                <a:ext uri="{FF2B5EF4-FFF2-40B4-BE49-F238E27FC236}">
                  <a16:creationId xmlns:a16="http://schemas.microsoft.com/office/drawing/2014/main" id="{27BA3D9D-0704-2E42-3A7F-7532F11D22DC}"/>
                </a:ext>
              </a:extLst>
            </p:cNvPr>
            <p:cNvSpPr/>
            <p:nvPr/>
          </p:nvSpPr>
          <p:spPr>
            <a:xfrm>
              <a:off x="6144839" y="1802716"/>
              <a:ext cx="878300" cy="900112"/>
            </a:xfrm>
            <a:custGeom>
              <a:avLst/>
              <a:gdLst>
                <a:gd name="connsiteX0" fmla="*/ 852868 w 878300"/>
                <a:gd name="connsiteY0" fmla="*/ 0 h 900112"/>
                <a:gd name="connsiteX1" fmla="*/ 0 w 878300"/>
                <a:gd name="connsiteY1" fmla="*/ 874681 h 900112"/>
                <a:gd name="connsiteX2" fmla="*/ 0 w 878300"/>
                <a:gd name="connsiteY2" fmla="*/ 900112 h 900112"/>
                <a:gd name="connsiteX3" fmla="*/ 878300 w 878300"/>
                <a:gd name="connsiteY3" fmla="*/ 95 h 900112"/>
                <a:gd name="connsiteX4" fmla="*/ 852868 w 878300"/>
                <a:gd name="connsiteY4" fmla="*/ 95 h 900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300" h="900112">
                  <a:moveTo>
                    <a:pt x="852868" y="0"/>
                  </a:moveTo>
                  <a:cubicBezTo>
                    <a:pt x="852868" y="475107"/>
                    <a:pt x="472250" y="862775"/>
                    <a:pt x="0" y="874681"/>
                  </a:cubicBezTo>
                  <a:lnTo>
                    <a:pt x="0" y="900112"/>
                  </a:lnTo>
                  <a:cubicBezTo>
                    <a:pt x="486346" y="888206"/>
                    <a:pt x="878300" y="489204"/>
                    <a:pt x="878300" y="95"/>
                  </a:cubicBezTo>
                  <a:lnTo>
                    <a:pt x="852868" y="95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0" name="Forma Livre 29">
              <a:extLst>
                <a:ext uri="{FF2B5EF4-FFF2-40B4-BE49-F238E27FC236}">
                  <a16:creationId xmlns:a16="http://schemas.microsoft.com/office/drawing/2014/main" id="{F42D614A-B6BE-4097-BD8D-514D8533A343}"/>
                </a:ext>
              </a:extLst>
            </p:cNvPr>
            <p:cNvSpPr/>
            <p:nvPr/>
          </p:nvSpPr>
          <p:spPr>
            <a:xfrm>
              <a:off x="6122455" y="864409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6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6"/>
                    <a:pt x="46958" y="93916"/>
                  </a:cubicBezTo>
                  <a:cubicBezTo>
                    <a:pt x="21024" y="93916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  <p:sp>
          <p:nvSpPr>
            <p:cNvPr id="31" name="Forma Livre 30">
              <a:extLst>
                <a:ext uri="{FF2B5EF4-FFF2-40B4-BE49-F238E27FC236}">
                  <a16:creationId xmlns:a16="http://schemas.microsoft.com/office/drawing/2014/main" id="{88D5D676-906C-9286-474D-693F23119D01}"/>
                </a:ext>
              </a:extLst>
            </p:cNvPr>
            <p:cNvSpPr/>
            <p:nvPr/>
          </p:nvSpPr>
          <p:spPr>
            <a:xfrm>
              <a:off x="6059781" y="2646536"/>
              <a:ext cx="93916" cy="93916"/>
            </a:xfrm>
            <a:custGeom>
              <a:avLst/>
              <a:gdLst>
                <a:gd name="connsiteX0" fmla="*/ 93916 w 93916"/>
                <a:gd name="connsiteY0" fmla="*/ 46958 h 93916"/>
                <a:gd name="connsiteX1" fmla="*/ 46958 w 93916"/>
                <a:gd name="connsiteY1" fmla="*/ 93917 h 93916"/>
                <a:gd name="connsiteX2" fmla="*/ 0 w 93916"/>
                <a:gd name="connsiteY2" fmla="*/ 46958 h 93916"/>
                <a:gd name="connsiteX3" fmla="*/ 46958 w 93916"/>
                <a:gd name="connsiteY3" fmla="*/ 0 h 93916"/>
                <a:gd name="connsiteX4" fmla="*/ 93916 w 93916"/>
                <a:gd name="connsiteY4" fmla="*/ 46958 h 9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16" h="93916">
                  <a:moveTo>
                    <a:pt x="93916" y="46958"/>
                  </a:moveTo>
                  <a:cubicBezTo>
                    <a:pt x="93916" y="72893"/>
                    <a:pt x="72893" y="93917"/>
                    <a:pt x="46958" y="93917"/>
                  </a:cubicBezTo>
                  <a:cubicBezTo>
                    <a:pt x="21024" y="93917"/>
                    <a:pt x="0" y="72893"/>
                    <a:pt x="0" y="46958"/>
                  </a:cubicBezTo>
                  <a:cubicBezTo>
                    <a:pt x="0" y="21024"/>
                    <a:pt x="21024" y="0"/>
                    <a:pt x="46958" y="0"/>
                  </a:cubicBezTo>
                  <a:cubicBezTo>
                    <a:pt x="72893" y="0"/>
                    <a:pt x="93916" y="21024"/>
                    <a:pt x="93916" y="4695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pt-BR" dirty="0"/>
            </a:p>
          </p:txBody>
        </p:sp>
      </p:grp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461F3004-A856-76D1-E9A5-C65B662AE75F}"/>
              </a:ext>
            </a:extLst>
          </p:cNvPr>
          <p:cNvSpPr txBox="1"/>
          <p:nvPr/>
        </p:nvSpPr>
        <p:spPr>
          <a:xfrm>
            <a:off x="4872981" y="2141754"/>
            <a:ext cx="52815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latin typeface="Montserrat" pitchFamily="2" charset="77"/>
              </a:rPr>
              <a:t>RELATÓRIO DE SINISTROS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5D54C49-2910-53EF-09B5-49CD4EB55F32}"/>
              </a:ext>
            </a:extLst>
          </p:cNvPr>
          <p:cNvSpPr txBox="1"/>
          <p:nvPr/>
        </p:nvSpPr>
        <p:spPr>
          <a:xfrm>
            <a:off x="8449519" y="6180687"/>
            <a:ext cx="347240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600" dirty="0">
                <a:solidFill>
                  <a:schemeClr val="bg1">
                    <a:lumMod val="75000"/>
                  </a:schemeClr>
                </a:solidFill>
                <a:latin typeface="Bookman Old Style" panose="02050604050505020204" pitchFamily="18" charset="0"/>
              </a:rPr>
              <a:t>TORRE DE CONTROLE</a:t>
            </a:r>
            <a:endParaRPr lang="pt-BR" sz="1600" dirty="0">
              <a:solidFill>
                <a:schemeClr val="bg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13" name="Espaço Reservado para Imagem 22" descr="Balão colorido em fundo preto&#10;&#10;Descrição gerada automaticamente com confiança média">
            <a:extLst>
              <a:ext uri="{FF2B5EF4-FFF2-40B4-BE49-F238E27FC236}">
                <a16:creationId xmlns:a16="http://schemas.microsoft.com/office/drawing/2014/main" id="{78BBB453-F849-4EEB-B8DF-CEE3734C986D}"/>
              </a:ext>
            </a:extLst>
          </p:cNvPr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" r="8"/>
          <a:stretch/>
        </p:blipFill>
        <p:spPr>
          <a:xfrm>
            <a:off x="1147462" y="1546608"/>
            <a:ext cx="3328524" cy="3114450"/>
          </a:xfrm>
          <a:prstGeom prst="rect">
            <a:avLst/>
          </a:prstGeom>
        </p:spPr>
      </p:pic>
      <p:grpSp>
        <p:nvGrpSpPr>
          <p:cNvPr id="3" name="Agrupar 2">
            <a:extLst>
              <a:ext uri="{FF2B5EF4-FFF2-40B4-BE49-F238E27FC236}">
                <a16:creationId xmlns:a16="http://schemas.microsoft.com/office/drawing/2014/main" id="{F5C58188-89E2-FE5C-156C-868941F087C1}"/>
              </a:ext>
            </a:extLst>
          </p:cNvPr>
          <p:cNvGrpSpPr/>
          <p:nvPr/>
        </p:nvGrpSpPr>
        <p:grpSpPr>
          <a:xfrm>
            <a:off x="8724140" y="1629163"/>
            <a:ext cx="2783646" cy="1442519"/>
            <a:chOff x="4846919" y="2443944"/>
            <a:chExt cx="2783646" cy="1442519"/>
          </a:xfrm>
        </p:grpSpPr>
        <p:pic>
          <p:nvPicPr>
            <p:cNvPr id="12" name="Picture 8" descr="Baús Frigoríficos - Pavan Carrocerias Frigoríficas">
              <a:extLst>
                <a:ext uri="{FF2B5EF4-FFF2-40B4-BE49-F238E27FC236}">
                  <a16:creationId xmlns:a16="http://schemas.microsoft.com/office/drawing/2014/main" id="{DBBC97A7-35BA-F0DB-357C-525BE0F47E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6919" y="2443944"/>
              <a:ext cx="2783646" cy="14425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" name="Imagem 1">
              <a:extLst>
                <a:ext uri="{FF2B5EF4-FFF2-40B4-BE49-F238E27FC236}">
                  <a16:creationId xmlns:a16="http://schemas.microsoft.com/office/drawing/2014/main" id="{61FA8193-8031-421C-8D8C-48B117D607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54" t="26500" r="23568" b="25957"/>
            <a:stretch/>
          </p:blipFill>
          <p:spPr>
            <a:xfrm>
              <a:off x="6251249" y="2711965"/>
              <a:ext cx="707701" cy="487379"/>
            </a:xfrm>
            <a:prstGeom prst="rect">
              <a:avLst/>
            </a:prstGeom>
          </p:spPr>
        </p:pic>
      </p:grpSp>
      <p:pic>
        <p:nvPicPr>
          <p:cNvPr id="5" name="Imagem 4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C26FB5E2-C8CC-5B6D-36BA-F16F7B000C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6133" y="3463152"/>
            <a:ext cx="1766572" cy="1742913"/>
          </a:xfrm>
          <a:prstGeom prst="rect">
            <a:avLst/>
          </a:prstGeom>
        </p:spPr>
      </p:pic>
      <p:pic>
        <p:nvPicPr>
          <p:cNvPr id="11" name="Imagem 10" descr="Desenho de um cachorro&#10;&#10;O conteúdo gerado por IA pode estar incorreto.">
            <a:extLst>
              <a:ext uri="{FF2B5EF4-FFF2-40B4-BE49-F238E27FC236}">
                <a16:creationId xmlns:a16="http://schemas.microsoft.com/office/drawing/2014/main" id="{3CB76A50-652C-0F54-148A-5BE565A953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070" y="3457645"/>
            <a:ext cx="1766739" cy="1789684"/>
          </a:xfrm>
          <a:prstGeom prst="rect">
            <a:avLst/>
          </a:prstGeom>
        </p:spPr>
      </p:pic>
      <p:pic>
        <p:nvPicPr>
          <p:cNvPr id="17" name="Imagem 16" descr="Desenho de uma pessoa&#10;&#10;O conteúdo gerado por IA pode estar incorreto.">
            <a:extLst>
              <a:ext uri="{FF2B5EF4-FFF2-40B4-BE49-F238E27FC236}">
                <a16:creationId xmlns:a16="http://schemas.microsoft.com/office/drawing/2014/main" id="{081A47FD-5A6B-EB75-EA6E-A251BCCEA7B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0841" y="3457645"/>
            <a:ext cx="1748485" cy="1771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478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2FDE2-277A-88C0-1A09-E5E05F15F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106085DC-A4B3-EF15-2957-FA6B2217D913}"/>
              </a:ext>
            </a:extLst>
          </p:cNvPr>
          <p:cNvSpPr txBox="1"/>
          <p:nvPr/>
        </p:nvSpPr>
        <p:spPr>
          <a:xfrm>
            <a:off x="45020" y="3621230"/>
            <a:ext cx="198944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DE INSTALAÇÃO DE TEMPERATURA DO VEÍCULO 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APURADO: 19.9 ° 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graphicFrame>
        <p:nvGraphicFramePr>
          <p:cNvPr id="33" name="Tabela 16">
            <a:extLst>
              <a:ext uri="{FF2B5EF4-FFF2-40B4-BE49-F238E27FC236}">
                <a16:creationId xmlns:a16="http://schemas.microsoft.com/office/drawing/2014/main" id="{A4F79F39-FA03-27D3-BB02-6CEEE2F50F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0923519"/>
              </p:ext>
            </p:extLst>
          </p:nvPr>
        </p:nvGraphicFramePr>
        <p:xfrm>
          <a:off x="0" y="2100109"/>
          <a:ext cx="12134949" cy="112776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237423">
                <a:tc>
                  <a:txBody>
                    <a:bodyPr/>
                    <a:lstStyle/>
                    <a:p>
                      <a:r>
                        <a:rPr lang="pt-BR" sz="1400" dirty="0"/>
                        <a:t>Resumo Ocorrência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662412">
                <a:tc>
                  <a:txBody>
                    <a:bodyPr/>
                    <a:lstStyle/>
                    <a:p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Veículo saiu carregado de Itapecerica da Serra - SP no dia 25/03/2025 06:39 com 3 entregas para (</a:t>
                      </a:r>
                      <a:r>
                        <a:rPr lang="es-E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4677- Piracicaba / 4044 - Americana / 4938 - Campinas –SP)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chegou na rua paralela a loja no dia 25/03/25 10:43 onde ficou efetuando manutenção no câmbio, perdeu a janela da loja dás 10:00 à 12:00 se apresentando na loja 4677 no dia 26/03/25 09:32, na conferência da carga foi identificado a variação de temperatura no compartimento resfriado, onde a temperatura recomendada de 0</a:t>
                      </a:r>
                      <a:r>
                        <a:rPr lang="pt-BR" sz="1200" dirty="0"/>
                        <a:t>° a 4°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 temperatura apurada foi de 9.6</a:t>
                      </a:r>
                      <a:r>
                        <a:rPr lang="pt-BR" sz="1200" dirty="0"/>
                        <a:t>°, de acordo com o foto enviada pela loja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No Interior do veículo a temperatura apurada era de 19.9</a:t>
                      </a:r>
                      <a:r>
                        <a:rPr lang="pt-BR" sz="1200" dirty="0"/>
                        <a:t>°</a:t>
                      </a:r>
                      <a:r>
                        <a:rPr lang="pt-B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O Seguro foi acionado.</a:t>
                      </a:r>
                      <a:endParaRPr lang="pt-BR" sz="10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AABAA9C2-09B5-DCFB-426F-F584E9310A22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C982D92A-F043-543E-4CBD-2BD201AC9754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graphicFrame>
        <p:nvGraphicFramePr>
          <p:cNvPr id="41" name="Tabela 40">
            <a:extLst>
              <a:ext uri="{FF2B5EF4-FFF2-40B4-BE49-F238E27FC236}">
                <a16:creationId xmlns:a16="http://schemas.microsoft.com/office/drawing/2014/main" id="{38214CD9-C549-A11B-D2AE-64F6A7BD4C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606798"/>
              </p:ext>
            </p:extLst>
          </p:nvPr>
        </p:nvGraphicFramePr>
        <p:xfrm>
          <a:off x="24062" y="3286191"/>
          <a:ext cx="12134949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494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CONFERÊNCIA QA RECEBIMENTO – INICIO 26/03/25 07:00 FIM DE RECEBIMENTO 26/03/25 16:45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2" name="AutoShape 2">
            <a:extLst>
              <a:ext uri="{FF2B5EF4-FFF2-40B4-BE49-F238E27FC236}">
                <a16:creationId xmlns:a16="http://schemas.microsoft.com/office/drawing/2014/main" id="{233C2FE4-69F7-3ADE-38A6-3EC19377453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090739C-693B-B6A5-699B-4848EE4587D9}"/>
              </a:ext>
            </a:extLst>
          </p:cNvPr>
          <p:cNvSpPr txBox="1"/>
          <p:nvPr/>
        </p:nvSpPr>
        <p:spPr>
          <a:xfrm>
            <a:off x="2136066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</a:t>
            </a:r>
          </a:p>
          <a:p>
            <a:r>
              <a:rPr lang="pt-BR" sz="1200" b="1" dirty="0"/>
              <a:t>TERMÓGRAFO CONGELADO</a:t>
            </a:r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9B54D05A-DFD0-670E-505B-07EB2EF31B73}"/>
              </a:ext>
            </a:extLst>
          </p:cNvPr>
          <p:cNvSpPr txBox="1"/>
          <p:nvPr/>
        </p:nvSpPr>
        <p:spPr>
          <a:xfrm>
            <a:off x="6121240" y="3608687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ROMANEIO </a:t>
            </a:r>
          </a:p>
          <a:p>
            <a:r>
              <a:rPr lang="pt-BR" sz="1200" dirty="0"/>
              <a:t>RECOMENDADA: : 0° a 4°  </a:t>
            </a:r>
          </a:p>
          <a:p>
            <a:endParaRPr lang="pt-BR" sz="1200" dirty="0"/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9DBAE0-151E-0E79-F9CE-41659F7C4FD5}"/>
              </a:ext>
            </a:extLst>
          </p:cNvPr>
          <p:cNvSpPr txBox="1"/>
          <p:nvPr/>
        </p:nvSpPr>
        <p:spPr>
          <a:xfrm>
            <a:off x="8107468" y="3612614"/>
            <a:ext cx="3991098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dirty="0"/>
              <a:t>PRODUTOS : Carne e Iogurte  </a:t>
            </a:r>
          </a:p>
          <a:p>
            <a:r>
              <a:rPr lang="pt-BR" sz="1200" b="1" dirty="0"/>
              <a:t>ANÁLISE AMOSTRAGEM</a:t>
            </a:r>
          </a:p>
          <a:p>
            <a:r>
              <a:rPr lang="pt-BR" sz="1200" dirty="0"/>
              <a:t>RECOMENDADA: 0° a 7°</a:t>
            </a:r>
          </a:p>
          <a:p>
            <a:r>
              <a:rPr lang="pt-BR" sz="1200" dirty="0"/>
              <a:t> 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  <a:p>
            <a:endParaRPr lang="pt-BR" sz="120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30C4113-7807-C04E-B210-E72ED26C36C3}"/>
              </a:ext>
            </a:extLst>
          </p:cNvPr>
          <p:cNvSpPr txBox="1"/>
          <p:nvPr/>
        </p:nvSpPr>
        <p:spPr>
          <a:xfrm>
            <a:off x="4122293" y="3595914"/>
            <a:ext cx="1880260" cy="3231654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REGISTRO</a:t>
            </a:r>
          </a:p>
          <a:p>
            <a:r>
              <a:rPr lang="pt-BR" sz="1200" b="1" dirty="0"/>
              <a:t>INSTALAÇÃO TERMÓGRAFO RESFRIADO</a:t>
            </a: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b="1" dirty="0">
              <a:solidFill>
                <a:srgbClr val="FF0000"/>
              </a:solidFill>
            </a:endParaRPr>
          </a:p>
          <a:p>
            <a:endParaRPr lang="pt-BR" sz="12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FF85827-A1E6-BA21-CF3E-44435A998527}"/>
              </a:ext>
            </a:extLst>
          </p:cNvPr>
          <p:cNvSpPr txBox="1"/>
          <p:nvPr/>
        </p:nvSpPr>
        <p:spPr>
          <a:xfrm>
            <a:off x="2365264" y="5381422"/>
            <a:ext cx="1421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se aplica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172E37F-12CF-FCE1-E314-838EFF54F5FD}"/>
              </a:ext>
            </a:extLst>
          </p:cNvPr>
          <p:cNvSpPr txBox="1"/>
          <p:nvPr/>
        </p:nvSpPr>
        <p:spPr>
          <a:xfrm>
            <a:off x="4325971" y="5381422"/>
            <a:ext cx="1472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Não instalado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ECD9FD7-14DC-12E1-FB34-1539DA9AE01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graphicFrame>
        <p:nvGraphicFramePr>
          <p:cNvPr id="15" name="Tabela 15">
            <a:extLst>
              <a:ext uri="{FF2B5EF4-FFF2-40B4-BE49-F238E27FC236}">
                <a16:creationId xmlns:a16="http://schemas.microsoft.com/office/drawing/2014/main" id="{1BD958F0-77BF-9412-9618-40CE5055F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374419"/>
              </p:ext>
            </p:extLst>
          </p:nvPr>
        </p:nvGraphicFramePr>
        <p:xfrm>
          <a:off x="24062" y="677647"/>
          <a:ext cx="12134949" cy="14020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70021">
                  <a:extLst>
                    <a:ext uri="{9D8B030D-6E8A-4147-A177-3AD203B41FA5}">
                      <a16:colId xmlns:a16="http://schemas.microsoft.com/office/drawing/2014/main" val="384706567"/>
                    </a:ext>
                  </a:extLst>
                </a:gridCol>
                <a:gridCol w="1696453">
                  <a:extLst>
                    <a:ext uri="{9D8B030D-6E8A-4147-A177-3AD203B41FA5}">
                      <a16:colId xmlns:a16="http://schemas.microsoft.com/office/drawing/2014/main" val="512943861"/>
                    </a:ext>
                  </a:extLst>
                </a:gridCol>
                <a:gridCol w="1479884">
                  <a:extLst>
                    <a:ext uri="{9D8B030D-6E8A-4147-A177-3AD203B41FA5}">
                      <a16:colId xmlns:a16="http://schemas.microsoft.com/office/drawing/2014/main" val="2446122590"/>
                    </a:ext>
                  </a:extLst>
                </a:gridCol>
                <a:gridCol w="1082842">
                  <a:extLst>
                    <a:ext uri="{9D8B030D-6E8A-4147-A177-3AD203B41FA5}">
                      <a16:colId xmlns:a16="http://schemas.microsoft.com/office/drawing/2014/main" val="2438381391"/>
                    </a:ext>
                  </a:extLst>
                </a:gridCol>
                <a:gridCol w="1215189">
                  <a:extLst>
                    <a:ext uri="{9D8B030D-6E8A-4147-A177-3AD203B41FA5}">
                      <a16:colId xmlns:a16="http://schemas.microsoft.com/office/drawing/2014/main" val="3451794111"/>
                    </a:ext>
                  </a:extLst>
                </a:gridCol>
                <a:gridCol w="799894">
                  <a:extLst>
                    <a:ext uri="{9D8B030D-6E8A-4147-A177-3AD203B41FA5}">
                      <a16:colId xmlns:a16="http://schemas.microsoft.com/office/drawing/2014/main" val="1760146592"/>
                    </a:ext>
                  </a:extLst>
                </a:gridCol>
                <a:gridCol w="1500845">
                  <a:extLst>
                    <a:ext uri="{9D8B030D-6E8A-4147-A177-3AD203B41FA5}">
                      <a16:colId xmlns:a16="http://schemas.microsoft.com/office/drawing/2014/main" val="455817242"/>
                    </a:ext>
                  </a:extLst>
                </a:gridCol>
                <a:gridCol w="835147">
                  <a:extLst>
                    <a:ext uri="{9D8B030D-6E8A-4147-A177-3AD203B41FA5}">
                      <a16:colId xmlns:a16="http://schemas.microsoft.com/office/drawing/2014/main" val="431909340"/>
                    </a:ext>
                  </a:extLst>
                </a:gridCol>
                <a:gridCol w="871458">
                  <a:extLst>
                    <a:ext uri="{9D8B030D-6E8A-4147-A177-3AD203B41FA5}">
                      <a16:colId xmlns:a16="http://schemas.microsoft.com/office/drawing/2014/main" val="2098382113"/>
                    </a:ext>
                  </a:extLst>
                </a:gridCol>
                <a:gridCol w="1040908">
                  <a:extLst>
                    <a:ext uri="{9D8B030D-6E8A-4147-A177-3AD203B41FA5}">
                      <a16:colId xmlns:a16="http://schemas.microsoft.com/office/drawing/2014/main" val="3426049648"/>
                    </a:ext>
                  </a:extLst>
                </a:gridCol>
                <a:gridCol w="842308">
                  <a:extLst>
                    <a:ext uri="{9D8B030D-6E8A-4147-A177-3AD203B41FA5}">
                      <a16:colId xmlns:a16="http://schemas.microsoft.com/office/drawing/2014/main" val="211968282"/>
                    </a:ext>
                  </a:extLst>
                </a:gridCol>
              </a:tblGrid>
              <a:tr h="563708"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Data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Origem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Destino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Transportadora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Placa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Motorista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Valor Carga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Prejuízo em Apuração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 Tipo Carga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dirty="0"/>
                        <a:t>Faixa Temp.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5001563"/>
                  </a:ext>
                </a:extLst>
              </a:tr>
              <a:tr h="671082"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26/03/25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100" dirty="0"/>
                        <a:t>ITAPECERICA DA SERRA  – SP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4677 – PIRACICABA / 4044 – AMERICANA / 4938 - CAMPINAS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494500018839</a:t>
                      </a:r>
                      <a:endParaRPr lang="pt-BR" sz="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TRANSPORTADORA FRAMENTO</a:t>
                      </a:r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MKR2114 – IMK4994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CLAUDIO SANTOS ALVES - CPF:016.403.855-84 CEL:(55)71923-9174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440.694,35</a:t>
                      </a:r>
                      <a:endParaRPr lang="pt-BR" sz="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237.954,61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RESFRIADO / FLV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0° a 4° / AMBIENTE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8510254"/>
                  </a:ext>
                </a:extLst>
              </a:tr>
            </a:tbl>
          </a:graphicData>
        </a:graphic>
      </p:graphicFrame>
      <p:pic>
        <p:nvPicPr>
          <p:cNvPr id="6" name="Imagem 5">
            <a:extLst>
              <a:ext uri="{FF2B5EF4-FFF2-40B4-BE49-F238E27FC236}">
                <a16:creationId xmlns:a16="http://schemas.microsoft.com/office/drawing/2014/main" id="{EF1AA2FF-EB17-DAFC-3C10-EEA52DDEE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6683" y="5624201"/>
            <a:ext cx="904098" cy="118457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E1616C79-B7A0-8FB6-24A7-9D9DAA78CF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684" y="4748057"/>
            <a:ext cx="904098" cy="792762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D6E357A3-439F-C077-5EF8-A7A5473FBD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842" y="4670767"/>
            <a:ext cx="1587709" cy="2153486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14C2B700-AC57-ABAE-9319-07129457B3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032" y="4748057"/>
            <a:ext cx="1146053" cy="2047480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3E4830F9-92F7-AAF9-A4A5-32F4582665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9016" y="4733509"/>
            <a:ext cx="1398490" cy="2023776"/>
          </a:xfrm>
          <a:prstGeom prst="rect">
            <a:avLst/>
          </a:prstGeom>
        </p:spPr>
      </p:pic>
      <p:sp>
        <p:nvSpPr>
          <p:cNvPr id="26" name="CaixaDeTexto 25">
            <a:extLst>
              <a:ext uri="{FF2B5EF4-FFF2-40B4-BE49-F238E27FC236}">
                <a16:creationId xmlns:a16="http://schemas.microsoft.com/office/drawing/2014/main" id="{0FBB2A7D-AECF-9DC7-F934-698F7E151C1D}"/>
              </a:ext>
            </a:extLst>
          </p:cNvPr>
          <p:cNvSpPr txBox="1"/>
          <p:nvPr/>
        </p:nvSpPr>
        <p:spPr>
          <a:xfrm>
            <a:off x="8156434" y="4298798"/>
            <a:ext cx="880369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0° a 7 °</a:t>
            </a:r>
          </a:p>
          <a:p>
            <a:r>
              <a:rPr lang="pt-BR" sz="1100" dirty="0"/>
              <a:t>APU: 9.6°</a:t>
            </a:r>
          </a:p>
          <a:p>
            <a:endParaRPr lang="pt-BR" sz="1100" dirty="0"/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259D1B63-87EE-4B08-8D7D-552FAF38EBBC}"/>
              </a:ext>
            </a:extLst>
          </p:cNvPr>
          <p:cNvSpPr txBox="1"/>
          <p:nvPr/>
        </p:nvSpPr>
        <p:spPr>
          <a:xfrm>
            <a:off x="10355966" y="4298798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7.2°</a:t>
            </a:r>
          </a:p>
          <a:p>
            <a:endParaRPr lang="pt-BR" sz="1100" dirty="0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C753F1A6-144A-6F71-61D1-7509A11FDDDD}"/>
              </a:ext>
            </a:extLst>
          </p:cNvPr>
          <p:cNvSpPr txBox="1"/>
          <p:nvPr/>
        </p:nvSpPr>
        <p:spPr>
          <a:xfrm>
            <a:off x="9152712" y="4322061"/>
            <a:ext cx="952505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100" dirty="0"/>
              <a:t>REC: 1° a 10 °</a:t>
            </a:r>
          </a:p>
          <a:p>
            <a:r>
              <a:rPr lang="pt-BR" sz="1100" dirty="0"/>
              <a:t>APU: 11.2°</a:t>
            </a:r>
          </a:p>
          <a:p>
            <a:endParaRPr lang="pt-BR" sz="1100" dirty="0"/>
          </a:p>
        </p:txBody>
      </p:sp>
      <p:pic>
        <p:nvPicPr>
          <p:cNvPr id="30" name="Imagem 29">
            <a:extLst>
              <a:ext uri="{FF2B5EF4-FFF2-40B4-BE49-F238E27FC236}">
                <a16:creationId xmlns:a16="http://schemas.microsoft.com/office/drawing/2014/main" id="{D05D1DBC-F404-6D5E-5232-861DEDFF6F1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88574" y="4473907"/>
            <a:ext cx="1720550" cy="229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450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Tabela 35">
            <a:extLst>
              <a:ext uri="{FF2B5EF4-FFF2-40B4-BE49-F238E27FC236}">
                <a16:creationId xmlns:a16="http://schemas.microsoft.com/office/drawing/2014/main" id="{94C993C5-6614-4BB9-8DE8-F38742A8C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985096"/>
              </p:ext>
            </p:extLst>
          </p:nvPr>
        </p:nvGraphicFramePr>
        <p:xfrm>
          <a:off x="6582" y="4131793"/>
          <a:ext cx="12186424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86424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Time </a:t>
                      </a:r>
                      <a:r>
                        <a:rPr lang="pt-BR" sz="1400" dirty="0" err="1"/>
                        <a:t>Line</a:t>
                      </a:r>
                      <a:r>
                        <a:rPr lang="pt-BR" sz="1400" dirty="0"/>
                        <a:t> ITAPECERICA DA SERRA &gt;&gt; LOJA 4677 PIRACICABA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graphicFrame>
        <p:nvGraphicFramePr>
          <p:cNvPr id="29" name="Tabela 16">
            <a:extLst>
              <a:ext uri="{FF2B5EF4-FFF2-40B4-BE49-F238E27FC236}">
                <a16:creationId xmlns:a16="http://schemas.microsoft.com/office/drawing/2014/main" id="{B63952A5-102F-4DD8-8465-3A284C70EA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100503"/>
              </p:ext>
            </p:extLst>
          </p:nvPr>
        </p:nvGraphicFramePr>
        <p:xfrm>
          <a:off x="30563" y="5321170"/>
          <a:ext cx="5984479" cy="1536829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9">
                <a:tc>
                  <a:txBody>
                    <a:bodyPr/>
                    <a:lstStyle/>
                    <a:p>
                      <a:r>
                        <a:rPr lang="pt-BR" sz="1400" dirty="0"/>
                        <a:t>Temperatura durante o Percurso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r>
                        <a:rPr lang="pt-BR" sz="1200" kern="1200" dirty="0"/>
                        <a:t>Houve variação de temperatura no compartimento de resfriado de acordo com a análise do relatório enviado pela BRK, onde foi registrado até 14</a:t>
                      </a:r>
                      <a:r>
                        <a:rPr lang="pt-BR" sz="1200" dirty="0"/>
                        <a:t>° sendo que o recomendado é entre 0° e 4°. Permaneceu durante 25:53 </a:t>
                      </a:r>
                      <a:r>
                        <a:rPr lang="pt-BR" sz="1200" dirty="0" err="1"/>
                        <a:t>Hs</a:t>
                      </a:r>
                      <a:r>
                        <a:rPr lang="pt-BR" sz="1200" dirty="0"/>
                        <a:t> com temperatura fora do recomendado.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38" name="Tabela 16">
            <a:extLst>
              <a:ext uri="{FF2B5EF4-FFF2-40B4-BE49-F238E27FC236}">
                <a16:creationId xmlns:a16="http://schemas.microsoft.com/office/drawing/2014/main" id="{7807A7CD-6EC1-43DA-BD4C-504D777EB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06256"/>
              </p:ext>
            </p:extLst>
          </p:nvPr>
        </p:nvGraphicFramePr>
        <p:xfrm>
          <a:off x="6151036" y="5333200"/>
          <a:ext cx="5984479" cy="1536828"/>
        </p:xfrm>
        <a:graphic>
          <a:graphicData uri="http://schemas.openxmlformats.org/drawingml/2006/table">
            <a:tbl>
              <a:tblPr firstRow="1" bandRow="1">
                <a:tableStyleId>{1E171933-4619-4E11-9A3F-F7608DF75F80}</a:tableStyleId>
              </a:tblPr>
              <a:tblGrid>
                <a:gridCol w="5984479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13638">
                <a:tc>
                  <a:txBody>
                    <a:bodyPr/>
                    <a:lstStyle/>
                    <a:p>
                      <a:r>
                        <a:rPr lang="pt-BR" sz="1400" dirty="0"/>
                        <a:t>Conclusão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  <a:tr h="12231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 acordo com as informações apuradas o veículo efetuou o carregamento fora da temperatura indicada entre 0</a:t>
                      </a:r>
                      <a:r>
                        <a:rPr lang="pt-BR" sz="1200" dirty="0"/>
                        <a:t>°</a:t>
                      </a:r>
                      <a:r>
                        <a:rPr lang="pt-BR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e 7</a:t>
                      </a:r>
                      <a:r>
                        <a:rPr lang="pt-BR" sz="1200" dirty="0"/>
                        <a:t>°, deu início de viagem 25/03 6:39 com temperatura adequada entre 0° e 4° apurado 3°, porém às 9:10 da manhã a temperatura começou a subir chegando a 14°, temperatura apurada no interior do veículo de 19.9° e carne com 9.6°. Carga retornou para o CD de Itapecerica da Serra e foi recebida no dia 27/03 08:00 ainda em apuração de prejuízo.</a:t>
                      </a:r>
                      <a:endParaRPr lang="pt-BR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4166481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10F3C851-E243-4E6F-9292-7303F0D4C7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32598"/>
              </p:ext>
            </p:extLst>
          </p:nvPr>
        </p:nvGraphicFramePr>
        <p:xfrm>
          <a:off x="-19138" y="669716"/>
          <a:ext cx="12192665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665">
                  <a:extLst>
                    <a:ext uri="{9D8B030D-6E8A-4147-A177-3AD203B41FA5}">
                      <a16:colId xmlns:a16="http://schemas.microsoft.com/office/drawing/2014/main" val="351532447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r>
                        <a:rPr lang="pt-BR" sz="1400" dirty="0"/>
                        <a:t>EVOLUÇÃO DA TEMPERATURA INICIO 25/03/25 03:12  - FIM 26/03/25 09:32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424323"/>
                  </a:ext>
                </a:extLst>
              </a:tr>
            </a:tbl>
          </a:graphicData>
        </a:graphic>
      </p:graphicFrame>
      <p:sp>
        <p:nvSpPr>
          <p:cNvPr id="17" name="AutoShape 2">
            <a:extLst>
              <a:ext uri="{FF2B5EF4-FFF2-40B4-BE49-F238E27FC236}">
                <a16:creationId xmlns:a16="http://schemas.microsoft.com/office/drawing/2014/main" id="{532B00AE-4BEF-45FC-A295-5FBF742E345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356929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DC714C7-D043-997D-912E-D6BE51ED88F5}"/>
              </a:ext>
            </a:extLst>
          </p:cNvPr>
          <p:cNvSpPr txBox="1"/>
          <p:nvPr/>
        </p:nvSpPr>
        <p:spPr>
          <a:xfrm>
            <a:off x="51934" y="443615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ENCOSTA EM DOCA </a:t>
            </a:r>
          </a:p>
          <a:p>
            <a:r>
              <a:rPr lang="pt-BR" sz="1200" dirty="0"/>
              <a:t>DATA: 25/03/2025 03:12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REALIZADA:</a:t>
            </a:r>
            <a:r>
              <a:rPr lang="pt-BR" sz="1200" b="1" dirty="0">
                <a:solidFill>
                  <a:srgbClr val="FF0000"/>
                </a:solidFill>
              </a:rPr>
              <a:t> 15</a:t>
            </a:r>
            <a:r>
              <a:rPr lang="pt-BR" sz="110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AB00337-CF5A-D237-6140-DA24D2710DC1}"/>
              </a:ext>
            </a:extLst>
          </p:cNvPr>
          <p:cNvSpPr txBox="1"/>
          <p:nvPr/>
        </p:nvSpPr>
        <p:spPr>
          <a:xfrm>
            <a:off x="2050556" y="4439386"/>
            <a:ext cx="1906881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CARREGAMENTO</a:t>
            </a:r>
            <a:r>
              <a:rPr lang="pt-BR" sz="1200" dirty="0"/>
              <a:t> </a:t>
            </a:r>
          </a:p>
          <a:p>
            <a:r>
              <a:rPr lang="pt-BR" sz="1200" dirty="0"/>
              <a:t>DATA: 25/03/2025 03:31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b="1" dirty="0">
                <a:solidFill>
                  <a:srgbClr val="FF0000"/>
                </a:solidFill>
              </a:rPr>
              <a:t>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14</a:t>
            </a:r>
            <a:r>
              <a:rPr lang="pt-BR" sz="1050" dirty="0">
                <a:solidFill>
                  <a:srgbClr val="FF000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11AF85-8BC6-FEC1-E7F7-9A707480310E}"/>
              </a:ext>
            </a:extLst>
          </p:cNvPr>
          <p:cNvSpPr txBox="1"/>
          <p:nvPr/>
        </p:nvSpPr>
        <p:spPr>
          <a:xfrm>
            <a:off x="4126450" y="4439387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FIM CARREGAMENTO: </a:t>
            </a:r>
          </a:p>
          <a:p>
            <a:r>
              <a:rPr lang="pt-BR" sz="1200" dirty="0"/>
              <a:t>DATA: 25/03/2025 03:48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/>
              <a:t> :</a:t>
            </a:r>
            <a:r>
              <a:rPr lang="pt-BR" sz="1200" b="1" dirty="0">
                <a:solidFill>
                  <a:srgbClr val="FF0000"/>
                </a:solidFill>
              </a:rPr>
              <a:t> 14</a:t>
            </a:r>
            <a:r>
              <a:rPr lang="pt-BR" sz="110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FF0000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0B0DDF1-590C-FA32-BDFB-5083F65B9D0F}"/>
              </a:ext>
            </a:extLst>
          </p:cNvPr>
          <p:cNvSpPr txBox="1"/>
          <p:nvPr/>
        </p:nvSpPr>
        <p:spPr>
          <a:xfrm>
            <a:off x="8181752" y="4436149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INICIO DE VIAGEM</a:t>
            </a:r>
            <a:endParaRPr lang="pt-BR" sz="1200" dirty="0"/>
          </a:p>
          <a:p>
            <a:r>
              <a:rPr lang="pt-BR" sz="1200" dirty="0"/>
              <a:t>DATA: 25/03/2025 06:39</a:t>
            </a:r>
          </a:p>
          <a:p>
            <a:r>
              <a:rPr lang="pt-BR" sz="1200" dirty="0"/>
              <a:t>TEMP. RECOM : 0° a 4° REALIZADA: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3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97D17E9-0B50-CCD4-D562-CFBD7097D26D}"/>
              </a:ext>
            </a:extLst>
          </p:cNvPr>
          <p:cNvSpPr txBox="1"/>
          <p:nvPr/>
        </p:nvSpPr>
        <p:spPr>
          <a:xfrm>
            <a:off x="10204557" y="4436149"/>
            <a:ext cx="1943009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/>
              <a:t>CHEGADA EM LOJA/CD </a:t>
            </a:r>
          </a:p>
          <a:p>
            <a:r>
              <a:rPr lang="pt-BR" sz="1200" dirty="0"/>
              <a:t>DATA: 25/03/2025 10:43</a:t>
            </a:r>
          </a:p>
          <a:p>
            <a:r>
              <a:rPr lang="pt-BR" sz="1200" dirty="0"/>
              <a:t>TEMP. RECOM.: 0° a 4°</a:t>
            </a:r>
          </a:p>
          <a:p>
            <a:r>
              <a:rPr lang="pt-BR" sz="1200" dirty="0"/>
              <a:t>REALIZADA</a:t>
            </a:r>
            <a:r>
              <a:rPr lang="pt-BR" sz="1200" dirty="0">
                <a:solidFill>
                  <a:schemeClr val="tx1"/>
                </a:solidFill>
              </a:rPr>
              <a:t>:</a:t>
            </a:r>
            <a:r>
              <a:rPr lang="pt-BR" sz="1200" dirty="0">
                <a:solidFill>
                  <a:srgbClr val="00B050"/>
                </a:solidFill>
              </a:rPr>
              <a:t> </a:t>
            </a:r>
            <a:r>
              <a:rPr lang="pt-BR" sz="1100" dirty="0">
                <a:solidFill>
                  <a:srgbClr val="00B050"/>
                </a:solidFill>
              </a:rPr>
              <a:t>:</a:t>
            </a:r>
            <a:r>
              <a:rPr lang="pt-BR" sz="1100" b="1" dirty="0">
                <a:solidFill>
                  <a:srgbClr val="00B050"/>
                </a:solidFill>
              </a:rPr>
              <a:t> 6</a:t>
            </a:r>
            <a:r>
              <a:rPr lang="pt-BR" sz="1050" dirty="0">
                <a:solidFill>
                  <a:srgbClr val="00B050"/>
                </a:solidFill>
              </a:rPr>
              <a:t>°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5A6D6EF-B734-7E2C-95F8-6AE1EADF2285}"/>
              </a:ext>
            </a:extLst>
          </p:cNvPr>
          <p:cNvSpPr txBox="1"/>
          <p:nvPr/>
        </p:nvSpPr>
        <p:spPr>
          <a:xfrm>
            <a:off x="6149255" y="4438221"/>
            <a:ext cx="1853976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sz="1200" b="1" dirty="0">
                <a:solidFill>
                  <a:schemeClr val="tx1"/>
                </a:solidFill>
              </a:rPr>
              <a:t>EMISSÃO NF</a:t>
            </a:r>
            <a:r>
              <a:rPr lang="pt-BR" sz="1200" dirty="0">
                <a:solidFill>
                  <a:schemeClr val="tx1"/>
                </a:solidFill>
              </a:rPr>
              <a:t> </a:t>
            </a:r>
          </a:p>
          <a:p>
            <a:r>
              <a:rPr lang="pt-BR" sz="1200" dirty="0">
                <a:solidFill>
                  <a:schemeClr val="tx1"/>
                </a:solidFill>
              </a:rPr>
              <a:t>DATA: 25/03/2025 04:43</a:t>
            </a:r>
          </a:p>
          <a:p>
            <a:r>
              <a:rPr lang="pt-BR" sz="1200" dirty="0">
                <a:solidFill>
                  <a:schemeClr val="tx1"/>
                </a:solidFill>
              </a:rPr>
              <a:t>TEMP. RECOM.: 0° a 4°</a:t>
            </a:r>
          </a:p>
          <a:p>
            <a:r>
              <a:rPr lang="pt-BR" sz="1200" dirty="0">
                <a:solidFill>
                  <a:schemeClr val="tx1"/>
                </a:solidFill>
              </a:rPr>
              <a:t>REALIZADA: </a:t>
            </a:r>
            <a:r>
              <a:rPr lang="pt-BR" sz="1100" dirty="0"/>
              <a:t>:</a:t>
            </a:r>
            <a:r>
              <a:rPr lang="pt-BR" sz="1100" b="1" dirty="0">
                <a:solidFill>
                  <a:srgbClr val="FF0000"/>
                </a:solidFill>
              </a:rPr>
              <a:t> 13</a:t>
            </a:r>
            <a:r>
              <a:rPr lang="pt-BR" sz="1050" dirty="0">
                <a:solidFill>
                  <a:srgbClr val="FF0000"/>
                </a:solidFill>
              </a:rPr>
              <a:t>°</a:t>
            </a:r>
            <a:r>
              <a:rPr lang="pt-BR" sz="1100" b="1" dirty="0">
                <a:solidFill>
                  <a:srgbClr val="00B050"/>
                </a:solidFill>
              </a:rPr>
              <a:t> </a:t>
            </a:r>
            <a:endParaRPr lang="pt-BR" sz="1200" b="1" dirty="0">
              <a:solidFill>
                <a:srgbClr val="00B050"/>
              </a:solidFill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3C789B3B-92D0-57C2-A0EB-20EA3E970F71}"/>
              </a:ext>
            </a:extLst>
          </p:cNvPr>
          <p:cNvCxnSpPr>
            <a:cxnSpLocks/>
          </p:cNvCxnSpPr>
          <p:nvPr/>
        </p:nvCxnSpPr>
        <p:spPr>
          <a:xfrm>
            <a:off x="1722221" y="0"/>
            <a:ext cx="0" cy="747047"/>
          </a:xfrm>
          <a:prstGeom prst="line">
            <a:avLst/>
          </a:prstGeom>
          <a:ln w="28575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21" name="Imagem 20">
            <a:extLst>
              <a:ext uri="{FF2B5EF4-FFF2-40B4-BE49-F238E27FC236}">
                <a16:creationId xmlns:a16="http://schemas.microsoft.com/office/drawing/2014/main" id="{137C7AB7-BF68-FC8D-2D61-97D1F8182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0370" y="-82899"/>
            <a:ext cx="1491851" cy="790459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25D71CFD-540B-BE02-B7A2-FB42175DA4B1}"/>
              </a:ext>
            </a:extLst>
          </p:cNvPr>
          <p:cNvSpPr txBox="1"/>
          <p:nvPr/>
        </p:nvSpPr>
        <p:spPr>
          <a:xfrm>
            <a:off x="1722220" y="100716"/>
            <a:ext cx="105848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b="1" i="0" u="none" strike="noStrike" dirty="0">
                <a:solidFill>
                  <a:srgbClr val="4472C4"/>
                </a:solidFill>
                <a:effectLst/>
                <a:latin typeface="Calibri" panose="020F0502020204030204" pitchFamily="34" charset="0"/>
              </a:rPr>
              <a:t>SINISTRO 63.589 – VARIAÇÃO DE TEMPERATURA – ITAPECERICA DA SERRA-SP X </a:t>
            </a:r>
            <a:r>
              <a:rPr lang="pt-BR" b="1" dirty="0">
                <a:solidFill>
                  <a:srgbClr val="4472C4"/>
                </a:solidFill>
                <a:latin typeface="Calibri" panose="020F0502020204030204" pitchFamily="34" charset="0"/>
              </a:rPr>
              <a:t>4677 - PIRACICABA</a:t>
            </a:r>
            <a:endParaRPr lang="pt-BR" sz="1800" b="1" i="0" u="none" strike="noStrike" dirty="0">
              <a:solidFill>
                <a:srgbClr val="4472C4"/>
              </a:solidFill>
              <a:effectLst/>
              <a:latin typeface="Calibri" panose="020F0502020204030204" pitchFamily="34" charset="0"/>
            </a:endParaRPr>
          </a:p>
          <a:p>
            <a:r>
              <a:rPr lang="pt-BR" sz="1100" b="0" i="0" u="none" strike="noStrike" dirty="0">
                <a:solidFill>
                  <a:srgbClr val="FFC000"/>
                </a:solidFill>
                <a:effectLst/>
                <a:latin typeface="Calibri" panose="020F0502020204030204" pitchFamily="34" charset="0"/>
              </a:rPr>
              <a:t>TORRE DE CONTROLE TRANSPORTES</a:t>
            </a:r>
            <a:r>
              <a:rPr lang="pt-BR" dirty="0"/>
              <a:t> </a:t>
            </a:r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B7B5E963-BDEC-1D35-84B6-CD50B93AD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" y="973815"/>
            <a:ext cx="12139946" cy="310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5916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119759</TotalTime>
  <Words>632</Words>
  <Application>Microsoft Office PowerPoint</Application>
  <PresentationFormat>Widescreen</PresentationFormat>
  <Paragraphs>142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11" baseType="lpstr">
      <vt:lpstr>Aptos</vt:lpstr>
      <vt:lpstr>Arial</vt:lpstr>
      <vt:lpstr>Bookman Old Style</vt:lpstr>
      <vt:lpstr>Calibri</vt:lpstr>
      <vt:lpstr>Calibri Light</vt:lpstr>
      <vt:lpstr>Montserrat</vt:lpstr>
      <vt:lpstr>Montserrat Light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Ocorrência de Falta de Mercadorias na Loja Transportadora: GVM Carga: 499500015328 Origem: CD Cajamar/SP Destino: 4857 Barigui/PR</dc:title>
  <dc:creator>Samantha Campos</dc:creator>
  <cp:lastModifiedBy>Fabio Alves Cordeiro</cp:lastModifiedBy>
  <cp:revision>216</cp:revision>
  <dcterms:created xsi:type="dcterms:W3CDTF">2023-01-09T13:48:52Z</dcterms:created>
  <dcterms:modified xsi:type="dcterms:W3CDTF">2025-04-02T14:24:38Z</dcterms:modified>
</cp:coreProperties>
</file>