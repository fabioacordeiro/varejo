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97" r:id="rId2"/>
    <p:sldId id="322" r:id="rId3"/>
    <p:sldId id="323" r:id="rId4"/>
    <p:sldId id="598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édio 1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Estilo Médio 1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Estilo Escuro 2 - Ênfase 5/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Estilo Escuro 2 - Ênfase 1/Ênfas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Estilo Escuro 2 - Ênfase 3/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E171933-4619-4E11-9A3F-F7608DF75F80}" styleName="Estilo Médio 1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Estilo Claro 3 - Ênfas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11" autoAdjust="0"/>
    <p:restoredTop sz="94660"/>
  </p:normalViewPr>
  <p:slideViewPr>
    <p:cSldViewPr snapToGrid="0">
      <p:cViewPr varScale="1">
        <p:scale>
          <a:sx n="74" d="100"/>
          <a:sy n="74" d="100"/>
        </p:scale>
        <p:origin x="979" y="28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EB1DFD-7E9A-4C78-B202-028BCECD9D42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08144F-FE56-4BC6-A24C-1077E736F0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602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Relationship Id="rId3" Type="http://schemas.openxmlformats.org/officeDocument/2006/relationships/hyperlink" Target="https://unsplash.com/@brookecagle?utm_source=unsplash&amp;utm_medium=referral&amp;utm_content=creditCopyText" TargetMode="External"/><Relationship Id="rId4" Type="http://schemas.openxmlformats.org/officeDocument/2006/relationships/hyperlink" Target="https://unsplash.com/?utm_source=unsplash&amp;utm_medium=referral&amp;utm_content=creditCopyText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9C5BD-6F95-782C-B82A-F0355C293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E936D5E-B184-EFC1-E18C-AAAE520CC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5CF2E95-BE1A-D767-2603-83C35A6D8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Photo by </a:t>
            </a:r>
            <a:r>
              <a:rPr lang="pt-BR" dirty="0">
                <a:hlinkClick r:id="rId3"/>
              </a:rPr>
              <a:t>Brooke Cagle</a:t>
            </a:r>
            <a:r>
              <a:rPr lang="pt-BR" dirty="0"/>
              <a:t> on </a:t>
            </a:r>
            <a:r>
              <a:rPr lang="pt-BR" dirty="0">
                <a:hlinkClick r:id="rId4"/>
              </a:rPr>
              <a:t>Unsplash</a:t>
            </a:r>
            <a:r>
              <a:rPr lang="pt-BR" dirty="0"/>
              <a:t>: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https://unsplash.com/photos/JBwcenOuRCg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5C6B4E-1E62-A731-023A-2F36BE31F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C48B18-2307-6B49-A49C-AEFC4820EDF0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8139935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F0FF0-8C44-4910-A1B4-9843A56EB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CB2DE9-5531-4A08-961A-0000D9BC9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B8D6EB-B45D-4038-8249-1DA14711B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18D058-CA91-4D9D-8A7B-4FB051F49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77B0F2-DEB6-45D8-AEAA-21270445E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3784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C90C1-AA0F-48FD-B2D9-38C05E693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7B18D0-8816-44BD-B395-1C8A6AD8B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54EBEA-61C6-4E47-870C-194D7CB2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60AA62-57DA-4CC1-B56C-3DFD8BE98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2E3687-9CEC-47A8-970B-52F2D98F1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4241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E1CB0-714B-4CD3-B787-4ADE306D0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31E410-53D7-4EB7-8EF1-819C8F878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4CAA3D-628C-4DF8-86B9-C8E1C70D7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5295D4-8C74-4337-B695-F59AFEAE5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C9AD81-5A25-478B-A84A-E94B2909E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1467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FBEBE1-906D-47F8-928D-6D75753D0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C9024B-AFFA-4A71-A8E4-4454C0CB2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57B4A8E-5956-4537-BCE7-E7F14BEA6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6C67870-BBAF-46AA-A0DF-C569A41B2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D2C9B1B-8470-4B62-8035-8578E49E6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5B22BE-0ACF-4EC3-AEDA-B57F7E90B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7029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FAAFC-0033-4E0C-9E6D-B97225B8C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E3592F-4397-4FB3-8F3D-68DCCEB22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4FF879-4E31-40E3-9CC3-5E6C3C088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42F66B0-BFD7-4852-BA2F-BA52AFEBB6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D7FD6C8-8160-4FE9-A032-8B6334D22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D9BE47D-F856-494F-84D8-783DCDF25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D8362E8-671B-42D8-B68B-D4C28F629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3602ED6-848A-482D-A5E9-8ED68D8DD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2985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05A826-97E4-498F-BBF2-730CF7D59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0296030-B660-4084-A4BC-A6B4BDDD9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E1E32BB-84A4-4692-83F0-6B8FC08EC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53ADC06-BC70-4A38-8D50-EA74234F2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970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9526A5A-D603-4E55-8633-0297CAD4C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2FF4B49-D18F-4468-B810-3BA5A1F80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68E663-1590-441D-A7EC-2727833CF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4655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DB9F36-C21B-412F-886B-0FF1EBB63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C6E38D-DF31-4DF8-ACF1-2688304F1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4217158-0FAE-4446-AB1C-392B2B185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78394E-DFD2-47A9-A968-8A0150A3B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0F0CE1-C804-4D44-BF79-C9128819D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6D01FA-C07F-48B4-B607-458A4C7BB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79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EB4B5-396D-4BFC-94EA-A7017B27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9607620-34DB-4F5D-96B2-1FCBC5D311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326435-EEA6-4F39-96FD-4CA1FDFAC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6C4E22B-ED1C-44D9-9102-87786779F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223D40-4476-437B-840F-FC35A826C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EE511E-F738-46B8-B8F1-F6CE5F535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3233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7C194-1604-4F50-8C20-83F28AA88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8B4548-3271-4CF8-81DC-A6B75ACD19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CD0242-1D61-4C05-96D1-A7BA96E52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809F7A-BE87-4BB5-944D-CB39BB0B1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220AF3-3115-45FB-A715-247713D68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5820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214DC69-4607-4D04-9561-D2426E2029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2F1E724-027B-444E-B1E9-708ABF574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BA176F-2C63-40A5-A535-27AF054C5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70073A-A58A-4293-9D5F-CBCF8DC76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BD0318-A0E4-4A11-AE08-3913702A3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1000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vre 2">
            <a:extLst>
              <a:ext uri="{FF2B5EF4-FFF2-40B4-BE49-F238E27FC236}">
                <a16:creationId xmlns:a16="http://schemas.microsoft.com/office/drawing/2014/main" id="{1C1CBA18-CB85-E047-89FA-ECBE55C1B4AF}"/>
              </a:ext>
            </a:extLst>
          </p:cNvPr>
          <p:cNvSpPr/>
          <p:nvPr userDrawn="1"/>
        </p:nvSpPr>
        <p:spPr>
          <a:xfrm>
            <a:off x="0" y="-7170"/>
            <a:ext cx="12192000" cy="6837805"/>
          </a:xfrm>
          <a:custGeom>
            <a:avLst/>
            <a:gdLst>
              <a:gd name="connsiteX0" fmla="*/ 0 w 3492293"/>
              <a:gd name="connsiteY0" fmla="*/ 2267426 h 2267425"/>
              <a:gd name="connsiteX1" fmla="*/ 3492293 w 3492293"/>
              <a:gd name="connsiteY1" fmla="*/ 2267426 h 2267425"/>
              <a:gd name="connsiteX2" fmla="*/ 2527646 w 3492293"/>
              <a:gd name="connsiteY2" fmla="*/ 1635204 h 2267425"/>
              <a:gd name="connsiteX3" fmla="*/ 1645112 w 3492293"/>
              <a:gd name="connsiteY3" fmla="*/ 1103709 h 2267425"/>
              <a:gd name="connsiteX4" fmla="*/ 1354504 w 3492293"/>
              <a:gd name="connsiteY4" fmla="*/ 1139428 h 2267425"/>
              <a:gd name="connsiteX5" fmla="*/ 916093 w 3492293"/>
              <a:gd name="connsiteY5" fmla="*/ 333256 h 2267425"/>
              <a:gd name="connsiteX6" fmla="*/ 734374 w 3492293"/>
              <a:gd name="connsiteY6" fmla="*/ 0 h 2267425"/>
              <a:gd name="connsiteX7" fmla="*/ 0 w 3492293"/>
              <a:gd name="connsiteY7" fmla="*/ 0 h 2267425"/>
              <a:gd name="connsiteX8" fmla="*/ 0 w 3492293"/>
              <a:gd name="connsiteY8" fmla="*/ 2267426 h 2267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92293" h="2267425">
                <a:moveTo>
                  <a:pt x="0" y="2267426"/>
                </a:moveTo>
                <a:lnTo>
                  <a:pt x="3492293" y="2267426"/>
                </a:lnTo>
                <a:cubicBezTo>
                  <a:pt x="3492293" y="2267426"/>
                  <a:pt x="3460162" y="1635204"/>
                  <a:pt x="2527646" y="1635204"/>
                </a:cubicBezTo>
                <a:cubicBezTo>
                  <a:pt x="1905017" y="1635204"/>
                  <a:pt x="2021403" y="1180147"/>
                  <a:pt x="1645112" y="1103709"/>
                </a:cubicBezTo>
                <a:cubicBezTo>
                  <a:pt x="1546934" y="1083707"/>
                  <a:pt x="1444828" y="1096923"/>
                  <a:pt x="1354504" y="1139428"/>
                </a:cubicBezTo>
                <a:cubicBezTo>
                  <a:pt x="559081" y="1513046"/>
                  <a:pt x="350943" y="535067"/>
                  <a:pt x="916093" y="333256"/>
                </a:cubicBezTo>
                <a:cubicBezTo>
                  <a:pt x="1077106" y="275749"/>
                  <a:pt x="1135299" y="0"/>
                  <a:pt x="734374" y="0"/>
                </a:cubicBezTo>
                <a:lnTo>
                  <a:pt x="0" y="0"/>
                </a:lnTo>
                <a:lnTo>
                  <a:pt x="0" y="2267426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17" name="Espaço Reservado para Imagem 16">
            <a:extLst>
              <a:ext uri="{FF2B5EF4-FFF2-40B4-BE49-F238E27FC236}">
                <a16:creationId xmlns:a16="http://schemas.microsoft.com/office/drawing/2014/main" id="{E35C5E05-ADCC-3E4F-B770-F6B44C5AA1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1661" y="1508767"/>
            <a:ext cx="3573270" cy="3573268"/>
          </a:xfrm>
          <a:custGeom>
            <a:avLst/>
            <a:gdLst>
              <a:gd name="connsiteX0" fmla="*/ 1786635 w 3573270"/>
              <a:gd name="connsiteY0" fmla="*/ 0 h 3573268"/>
              <a:gd name="connsiteX1" fmla="*/ 3573270 w 3573270"/>
              <a:gd name="connsiteY1" fmla="*/ 1786634 h 3573268"/>
              <a:gd name="connsiteX2" fmla="*/ 1786635 w 3573270"/>
              <a:gd name="connsiteY2" fmla="*/ 3573268 h 3573268"/>
              <a:gd name="connsiteX3" fmla="*/ 0 w 3573270"/>
              <a:gd name="connsiteY3" fmla="*/ 1786634 h 3573268"/>
              <a:gd name="connsiteX4" fmla="*/ 1786635 w 3573270"/>
              <a:gd name="connsiteY4" fmla="*/ 0 h 3573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3270" h="3573268">
                <a:moveTo>
                  <a:pt x="1786635" y="0"/>
                </a:moveTo>
                <a:cubicBezTo>
                  <a:pt x="2773366" y="0"/>
                  <a:pt x="3573270" y="799903"/>
                  <a:pt x="3573270" y="1786634"/>
                </a:cubicBezTo>
                <a:cubicBezTo>
                  <a:pt x="3573270" y="2773365"/>
                  <a:pt x="2773366" y="3573268"/>
                  <a:pt x="1786635" y="3573268"/>
                </a:cubicBezTo>
                <a:cubicBezTo>
                  <a:pt x="799904" y="3573268"/>
                  <a:pt x="0" y="2773365"/>
                  <a:pt x="0" y="1786634"/>
                </a:cubicBezTo>
                <a:cubicBezTo>
                  <a:pt x="0" y="799903"/>
                  <a:pt x="799904" y="0"/>
                  <a:pt x="178663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pt-BR" dirty="0"/>
          </a:p>
        </p:txBody>
      </p:sp>
      <p:sp>
        <p:nvSpPr>
          <p:cNvPr id="8" name="Título 8">
            <a:extLst>
              <a:ext uri="{FF2B5EF4-FFF2-40B4-BE49-F238E27FC236}">
                <a16:creationId xmlns:a16="http://schemas.microsoft.com/office/drawing/2014/main" id="{C3184C44-723A-1A44-ABC6-2EDA913196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5837" y="822425"/>
            <a:ext cx="6681368" cy="1073425"/>
          </a:xfrm>
        </p:spPr>
        <p:txBody>
          <a:bodyPr/>
          <a:lstStyle>
            <a:lvl1pPr algn="l">
              <a:defRPr sz="3600">
                <a:solidFill>
                  <a:schemeClr val="accent4"/>
                </a:solidFill>
              </a:defRPr>
            </a:lvl1pPr>
          </a:lstStyle>
          <a:p>
            <a:r>
              <a:rPr lang="pt-BR" dirty="0"/>
              <a:t>INSIRA AQUI UM TÍTULO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E9F73AAF-E19E-E444-B34F-05EEC07EA8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5837" y="2308052"/>
            <a:ext cx="6015256" cy="658044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400" b="1" i="0">
                <a:solidFill>
                  <a:schemeClr val="bg1"/>
                </a:solidFill>
                <a:latin typeface="Montserrat" pitchFamily="2" charset="77"/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pt-BR" dirty="0"/>
              <a:t>INSIRA AQUI UM SUBTÍTULO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D0BCC47D-3D7E-7447-8F86-1F792ACAD3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5837" y="2993460"/>
            <a:ext cx="6015256" cy="3273092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Montserrat Light" pitchFamily="2" charset="77"/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pt-BR" dirty="0"/>
              <a:t>Insira aqui um texto mais extenso. Esta é uma caixa de texto maior que possibilita o desenvolvimento de um texto mais longo para abordar algum assunto com mais detalhamento. Mas fica aqui a dica que mesmo assim vale sempre enxugar ao máximo os textos das apresentações. Resumir os assuntos oferecendo um conteúdo mais limpo e objetivo contribuirá para que seu público sinta maior leveza e foco durante leitura de sua apresentação.</a:t>
            </a:r>
          </a:p>
        </p:txBody>
      </p:sp>
    </p:spTree>
    <p:extLst>
      <p:ext uri="{BB962C8B-B14F-4D97-AF65-F5344CB8AC3E}">
        <p14:creationId xmlns:p14="http://schemas.microsoft.com/office/powerpoint/2010/main" val="10242755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3EB5ED5-E303-4244-87DA-929F8BFC1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FEE580-1B86-4B02-AD6E-38CDD2389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0A1998-DA85-4809-A9FE-3452D6A259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89C03C-4968-40DC-BD62-8C06A9CE5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7B1BD9-D2BF-40FD-86E7-2E6CAEC38A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4973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jpg"/><Relationship Id="rId7" Type="http://schemas.openxmlformats.org/officeDocument/2006/relationships/image" Target="../media/image5.jpg"/><Relationship Id="rId8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3.jpg"/><Relationship Id="rId4" Type="http://schemas.openxmlformats.org/officeDocument/2006/relationships/image" Target="../media/image14.jpeg"/><Relationship Id="rId5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5C27B-63BD-1B76-E4A2-059AC1986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rma Livre 20">
            <a:extLst>
              <a:ext uri="{FF2B5EF4-FFF2-40B4-BE49-F238E27FC236}">
                <a16:creationId xmlns:a16="http://schemas.microsoft.com/office/drawing/2014/main" id="{E0D7D729-6414-617F-30EF-1122B9E5189D}"/>
              </a:ext>
            </a:extLst>
          </p:cNvPr>
          <p:cNvSpPr/>
          <p:nvPr/>
        </p:nvSpPr>
        <p:spPr>
          <a:xfrm>
            <a:off x="10948533" y="-7170"/>
            <a:ext cx="1243465" cy="3107557"/>
          </a:xfrm>
          <a:custGeom>
            <a:avLst/>
            <a:gdLst>
              <a:gd name="connsiteX0" fmla="*/ 1986004 w 1986003"/>
              <a:gd name="connsiteY0" fmla="*/ 0 h 3769233"/>
              <a:gd name="connsiteX1" fmla="*/ 14996 w 1986003"/>
              <a:gd name="connsiteY1" fmla="*/ 997267 h 3769233"/>
              <a:gd name="connsiteX2" fmla="*/ 756803 w 1986003"/>
              <a:gd name="connsiteY2" fmla="*/ 2442401 h 3769233"/>
              <a:gd name="connsiteX3" fmla="*/ 1986004 w 1986003"/>
              <a:gd name="connsiteY3" fmla="*/ 3769233 h 3769233"/>
              <a:gd name="connsiteX4" fmla="*/ 1986004 w 1986003"/>
              <a:gd name="connsiteY4" fmla="*/ 0 h 3769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6003" h="3769233">
                <a:moveTo>
                  <a:pt x="1986004" y="0"/>
                </a:moveTo>
                <a:cubicBezTo>
                  <a:pt x="1986004" y="0"/>
                  <a:pt x="170444" y="67627"/>
                  <a:pt x="14996" y="997267"/>
                </a:cubicBezTo>
                <a:cubicBezTo>
                  <a:pt x="-140452" y="1926908"/>
                  <a:pt x="968734" y="1732502"/>
                  <a:pt x="756803" y="2442401"/>
                </a:cubicBezTo>
                <a:cubicBezTo>
                  <a:pt x="544871" y="3152299"/>
                  <a:pt x="1526804" y="3769233"/>
                  <a:pt x="1986004" y="3769233"/>
                </a:cubicBezTo>
                <a:lnTo>
                  <a:pt x="1986004" y="0"/>
                </a:ln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  <a:effectLst>
            <a:outerShdw blurRad="749300" dist="355600" dir="216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pt-BR" dirty="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B26597EF-552A-BC99-50CC-3CCDF1AC931B}"/>
              </a:ext>
            </a:extLst>
          </p:cNvPr>
          <p:cNvGrpSpPr/>
          <p:nvPr/>
        </p:nvGrpSpPr>
        <p:grpSpPr>
          <a:xfrm rot="1249263">
            <a:off x="537358" y="907212"/>
            <a:ext cx="4585770" cy="4776376"/>
            <a:chOff x="5221962" y="864409"/>
            <a:chExt cx="1801177" cy="1876043"/>
          </a:xfrm>
          <a:solidFill>
            <a:schemeClr val="accent4"/>
          </a:solidFill>
        </p:grpSpPr>
        <p:sp>
          <p:nvSpPr>
            <p:cNvPr id="27" name="Forma Livre 26">
              <a:extLst>
                <a:ext uri="{FF2B5EF4-FFF2-40B4-BE49-F238E27FC236}">
                  <a16:creationId xmlns:a16="http://schemas.microsoft.com/office/drawing/2014/main" id="{AA2C97C3-4D27-6A1E-9418-CF100DD84947}"/>
                </a:ext>
              </a:extLst>
            </p:cNvPr>
            <p:cNvSpPr/>
            <p:nvPr/>
          </p:nvSpPr>
          <p:spPr>
            <a:xfrm>
              <a:off x="5308830" y="989091"/>
              <a:ext cx="1627250" cy="1627251"/>
            </a:xfrm>
            <a:custGeom>
              <a:avLst/>
              <a:gdLst>
                <a:gd name="connsiteX0" fmla="*/ 813626 w 1627250"/>
                <a:gd name="connsiteY0" fmla="*/ 1627251 h 1627251"/>
                <a:gd name="connsiteX1" fmla="*/ 0 w 1627250"/>
                <a:gd name="connsiteY1" fmla="*/ 813626 h 1627251"/>
                <a:gd name="connsiteX2" fmla="*/ 813626 w 1627250"/>
                <a:gd name="connsiteY2" fmla="*/ 0 h 1627251"/>
                <a:gd name="connsiteX3" fmla="*/ 1627251 w 1627250"/>
                <a:gd name="connsiteY3" fmla="*/ 813626 h 1627251"/>
                <a:gd name="connsiteX4" fmla="*/ 813626 w 1627250"/>
                <a:gd name="connsiteY4" fmla="*/ 1627251 h 1627251"/>
                <a:gd name="connsiteX5" fmla="*/ 813626 w 1627250"/>
                <a:gd name="connsiteY5" fmla="*/ 47625 h 1627251"/>
                <a:gd name="connsiteX6" fmla="*/ 47625 w 1627250"/>
                <a:gd name="connsiteY6" fmla="*/ 813626 h 1627251"/>
                <a:gd name="connsiteX7" fmla="*/ 813626 w 1627250"/>
                <a:gd name="connsiteY7" fmla="*/ 1579626 h 1627251"/>
                <a:gd name="connsiteX8" fmla="*/ 1579626 w 1627250"/>
                <a:gd name="connsiteY8" fmla="*/ 813626 h 1627251"/>
                <a:gd name="connsiteX9" fmla="*/ 813626 w 1627250"/>
                <a:gd name="connsiteY9" fmla="*/ 47625 h 162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7250" h="1627251">
                  <a:moveTo>
                    <a:pt x="813626" y="1627251"/>
                  </a:moveTo>
                  <a:cubicBezTo>
                    <a:pt x="364998" y="1627251"/>
                    <a:pt x="0" y="1262253"/>
                    <a:pt x="0" y="813626"/>
                  </a:cubicBezTo>
                  <a:cubicBezTo>
                    <a:pt x="0" y="364998"/>
                    <a:pt x="364998" y="0"/>
                    <a:pt x="813626" y="0"/>
                  </a:cubicBezTo>
                  <a:cubicBezTo>
                    <a:pt x="1262253" y="0"/>
                    <a:pt x="1627251" y="364998"/>
                    <a:pt x="1627251" y="813626"/>
                  </a:cubicBezTo>
                  <a:cubicBezTo>
                    <a:pt x="1627251" y="1262253"/>
                    <a:pt x="1262253" y="1627251"/>
                    <a:pt x="813626" y="1627251"/>
                  </a:cubicBezTo>
                  <a:close/>
                  <a:moveTo>
                    <a:pt x="813626" y="47625"/>
                  </a:moveTo>
                  <a:cubicBezTo>
                    <a:pt x="391287" y="47625"/>
                    <a:pt x="47625" y="391287"/>
                    <a:pt x="47625" y="813626"/>
                  </a:cubicBezTo>
                  <a:cubicBezTo>
                    <a:pt x="47625" y="1235964"/>
                    <a:pt x="391287" y="1579626"/>
                    <a:pt x="813626" y="1579626"/>
                  </a:cubicBezTo>
                  <a:cubicBezTo>
                    <a:pt x="1235964" y="1579626"/>
                    <a:pt x="1579626" y="1235964"/>
                    <a:pt x="1579626" y="813626"/>
                  </a:cubicBezTo>
                  <a:cubicBezTo>
                    <a:pt x="1579626" y="391287"/>
                    <a:pt x="1235964" y="47625"/>
                    <a:pt x="813626" y="47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28" name="Forma Livre 27">
              <a:extLst>
                <a:ext uri="{FF2B5EF4-FFF2-40B4-BE49-F238E27FC236}">
                  <a16:creationId xmlns:a16="http://schemas.microsoft.com/office/drawing/2014/main" id="{BF5E8C03-B8A5-B83F-5970-C66A1C957EE3}"/>
                </a:ext>
              </a:extLst>
            </p:cNvPr>
            <p:cNvSpPr/>
            <p:nvPr/>
          </p:nvSpPr>
          <p:spPr>
            <a:xfrm>
              <a:off x="5221962" y="902032"/>
              <a:ext cx="900588" cy="900684"/>
            </a:xfrm>
            <a:custGeom>
              <a:avLst/>
              <a:gdLst>
                <a:gd name="connsiteX0" fmla="*/ 25336 w 900588"/>
                <a:gd name="connsiteY0" fmla="*/ 900684 h 900684"/>
                <a:gd name="connsiteX1" fmla="*/ 25336 w 900588"/>
                <a:gd name="connsiteY1" fmla="*/ 900684 h 900684"/>
                <a:gd name="connsiteX2" fmla="*/ 900589 w 900588"/>
                <a:gd name="connsiteY2" fmla="*/ 25432 h 900684"/>
                <a:gd name="connsiteX3" fmla="*/ 900589 w 900588"/>
                <a:gd name="connsiteY3" fmla="*/ 0 h 900684"/>
                <a:gd name="connsiteX4" fmla="*/ 0 w 900588"/>
                <a:gd name="connsiteY4" fmla="*/ 900589 h 900684"/>
                <a:gd name="connsiteX5" fmla="*/ 0 w 900588"/>
                <a:gd name="connsiteY5" fmla="*/ 900589 h 900684"/>
                <a:gd name="connsiteX6" fmla="*/ 25336 w 900588"/>
                <a:gd name="connsiteY6" fmla="*/ 900589 h 900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0588" h="900684">
                  <a:moveTo>
                    <a:pt x="25336" y="900684"/>
                  </a:moveTo>
                  <a:cubicBezTo>
                    <a:pt x="25336" y="900684"/>
                    <a:pt x="25336" y="900684"/>
                    <a:pt x="25336" y="900684"/>
                  </a:cubicBezTo>
                  <a:cubicBezTo>
                    <a:pt x="25336" y="418052"/>
                    <a:pt x="417957" y="25432"/>
                    <a:pt x="900589" y="25432"/>
                  </a:cubicBezTo>
                  <a:lnTo>
                    <a:pt x="900589" y="0"/>
                  </a:lnTo>
                  <a:cubicBezTo>
                    <a:pt x="403955" y="0"/>
                    <a:pt x="0" y="404051"/>
                    <a:pt x="0" y="900589"/>
                  </a:cubicBezTo>
                  <a:cubicBezTo>
                    <a:pt x="0" y="900589"/>
                    <a:pt x="0" y="900589"/>
                    <a:pt x="0" y="900589"/>
                  </a:cubicBezTo>
                  <a:lnTo>
                    <a:pt x="25336" y="90058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29" name="Forma Livre 28">
              <a:extLst>
                <a:ext uri="{FF2B5EF4-FFF2-40B4-BE49-F238E27FC236}">
                  <a16:creationId xmlns:a16="http://schemas.microsoft.com/office/drawing/2014/main" id="{27BA3D9D-0704-2E42-3A7F-7532F11D22DC}"/>
                </a:ext>
              </a:extLst>
            </p:cNvPr>
            <p:cNvSpPr/>
            <p:nvPr/>
          </p:nvSpPr>
          <p:spPr>
            <a:xfrm>
              <a:off x="6144839" y="1802716"/>
              <a:ext cx="878300" cy="900112"/>
            </a:xfrm>
            <a:custGeom>
              <a:avLst/>
              <a:gdLst>
                <a:gd name="connsiteX0" fmla="*/ 852868 w 878300"/>
                <a:gd name="connsiteY0" fmla="*/ 0 h 900112"/>
                <a:gd name="connsiteX1" fmla="*/ 0 w 878300"/>
                <a:gd name="connsiteY1" fmla="*/ 874681 h 900112"/>
                <a:gd name="connsiteX2" fmla="*/ 0 w 878300"/>
                <a:gd name="connsiteY2" fmla="*/ 900112 h 900112"/>
                <a:gd name="connsiteX3" fmla="*/ 878300 w 878300"/>
                <a:gd name="connsiteY3" fmla="*/ 95 h 900112"/>
                <a:gd name="connsiteX4" fmla="*/ 852868 w 878300"/>
                <a:gd name="connsiteY4" fmla="*/ 95 h 900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8300" h="900112">
                  <a:moveTo>
                    <a:pt x="852868" y="0"/>
                  </a:moveTo>
                  <a:cubicBezTo>
                    <a:pt x="852868" y="475107"/>
                    <a:pt x="472250" y="862775"/>
                    <a:pt x="0" y="874681"/>
                  </a:cubicBezTo>
                  <a:lnTo>
                    <a:pt x="0" y="900112"/>
                  </a:lnTo>
                  <a:cubicBezTo>
                    <a:pt x="486346" y="888206"/>
                    <a:pt x="878300" y="489204"/>
                    <a:pt x="878300" y="95"/>
                  </a:cubicBezTo>
                  <a:lnTo>
                    <a:pt x="852868" y="9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30" name="Forma Livre 29">
              <a:extLst>
                <a:ext uri="{FF2B5EF4-FFF2-40B4-BE49-F238E27FC236}">
                  <a16:creationId xmlns:a16="http://schemas.microsoft.com/office/drawing/2014/main" id="{F42D614A-B6BE-4097-BD8D-514D8533A343}"/>
                </a:ext>
              </a:extLst>
            </p:cNvPr>
            <p:cNvSpPr/>
            <p:nvPr/>
          </p:nvSpPr>
          <p:spPr>
            <a:xfrm>
              <a:off x="6122455" y="864409"/>
              <a:ext cx="93916" cy="93916"/>
            </a:xfrm>
            <a:custGeom>
              <a:avLst/>
              <a:gdLst>
                <a:gd name="connsiteX0" fmla="*/ 93916 w 93916"/>
                <a:gd name="connsiteY0" fmla="*/ 46958 h 93916"/>
                <a:gd name="connsiteX1" fmla="*/ 46958 w 93916"/>
                <a:gd name="connsiteY1" fmla="*/ 93916 h 93916"/>
                <a:gd name="connsiteX2" fmla="*/ 0 w 93916"/>
                <a:gd name="connsiteY2" fmla="*/ 46958 h 93916"/>
                <a:gd name="connsiteX3" fmla="*/ 46958 w 93916"/>
                <a:gd name="connsiteY3" fmla="*/ 0 h 93916"/>
                <a:gd name="connsiteX4" fmla="*/ 93916 w 93916"/>
                <a:gd name="connsiteY4" fmla="*/ 46958 h 9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16" h="93916">
                  <a:moveTo>
                    <a:pt x="93916" y="46958"/>
                  </a:moveTo>
                  <a:cubicBezTo>
                    <a:pt x="93916" y="72893"/>
                    <a:pt x="72893" y="93916"/>
                    <a:pt x="46958" y="93916"/>
                  </a:cubicBezTo>
                  <a:cubicBezTo>
                    <a:pt x="21024" y="93916"/>
                    <a:pt x="0" y="72893"/>
                    <a:pt x="0" y="46958"/>
                  </a:cubicBezTo>
                  <a:cubicBezTo>
                    <a:pt x="0" y="21024"/>
                    <a:pt x="21024" y="0"/>
                    <a:pt x="46958" y="0"/>
                  </a:cubicBezTo>
                  <a:cubicBezTo>
                    <a:pt x="72893" y="0"/>
                    <a:pt x="93916" y="21024"/>
                    <a:pt x="93916" y="469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31" name="Forma Livre 30">
              <a:extLst>
                <a:ext uri="{FF2B5EF4-FFF2-40B4-BE49-F238E27FC236}">
                  <a16:creationId xmlns:a16="http://schemas.microsoft.com/office/drawing/2014/main" id="{88D5D676-906C-9286-474D-693F23119D01}"/>
                </a:ext>
              </a:extLst>
            </p:cNvPr>
            <p:cNvSpPr/>
            <p:nvPr/>
          </p:nvSpPr>
          <p:spPr>
            <a:xfrm>
              <a:off x="6059781" y="2646536"/>
              <a:ext cx="93916" cy="93916"/>
            </a:xfrm>
            <a:custGeom>
              <a:avLst/>
              <a:gdLst>
                <a:gd name="connsiteX0" fmla="*/ 93916 w 93916"/>
                <a:gd name="connsiteY0" fmla="*/ 46958 h 93916"/>
                <a:gd name="connsiteX1" fmla="*/ 46958 w 93916"/>
                <a:gd name="connsiteY1" fmla="*/ 93917 h 93916"/>
                <a:gd name="connsiteX2" fmla="*/ 0 w 93916"/>
                <a:gd name="connsiteY2" fmla="*/ 46958 h 93916"/>
                <a:gd name="connsiteX3" fmla="*/ 46958 w 93916"/>
                <a:gd name="connsiteY3" fmla="*/ 0 h 93916"/>
                <a:gd name="connsiteX4" fmla="*/ 93916 w 93916"/>
                <a:gd name="connsiteY4" fmla="*/ 46958 h 9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16" h="93916">
                  <a:moveTo>
                    <a:pt x="93916" y="46958"/>
                  </a:moveTo>
                  <a:cubicBezTo>
                    <a:pt x="93916" y="72893"/>
                    <a:pt x="72893" y="93917"/>
                    <a:pt x="46958" y="93917"/>
                  </a:cubicBezTo>
                  <a:cubicBezTo>
                    <a:pt x="21024" y="93917"/>
                    <a:pt x="0" y="72893"/>
                    <a:pt x="0" y="46958"/>
                  </a:cubicBezTo>
                  <a:cubicBezTo>
                    <a:pt x="0" y="21024"/>
                    <a:pt x="21024" y="0"/>
                    <a:pt x="46958" y="0"/>
                  </a:cubicBezTo>
                  <a:cubicBezTo>
                    <a:pt x="72893" y="0"/>
                    <a:pt x="93916" y="21024"/>
                    <a:pt x="93916" y="469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61F3004-A856-76D1-E9A5-C65B662AE75F}"/>
              </a:ext>
            </a:extLst>
          </p:cNvPr>
          <p:cNvSpPr txBox="1"/>
          <p:nvPr/>
        </p:nvSpPr>
        <p:spPr>
          <a:xfrm>
            <a:off x="4872981" y="2141754"/>
            <a:ext cx="52815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latin typeface="Montserrat" pitchFamily="2" charset="77"/>
              </a:rPr>
              <a:t>RELATÓRIO DE SINISTROS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5D54C49-2910-53EF-09B5-49CD4EB55F32}"/>
              </a:ext>
            </a:extLst>
          </p:cNvPr>
          <p:cNvSpPr txBox="1"/>
          <p:nvPr/>
        </p:nvSpPr>
        <p:spPr>
          <a:xfrm>
            <a:off x="8449519" y="6180687"/>
            <a:ext cx="34724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sz="1600" dirty="0">
                <a:solidFill>
                  <a:schemeClr val="bg1">
                    <a:lumMod val="75000"/>
                  </a:schemeClr>
                </a:solidFill>
                <a:latin typeface="Bookman Old Style" panose="02050604050505020204" pitchFamily="18" charset="0"/>
              </a:rPr>
              <a:t>TORRE DE CONTROLE</a:t>
            </a:r>
            <a:endParaRPr lang="pt-BR" sz="1600" dirty="0">
              <a:solidFill>
                <a:schemeClr val="bg1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13" name="Espaço Reservado para Imagem 22" descr="Balão colorido em fundo preto&#10;&#10;Descrição gerada automaticamente com confiança média">
            <a:extLst>
              <a:ext uri="{FF2B5EF4-FFF2-40B4-BE49-F238E27FC236}">
                <a16:creationId xmlns:a16="http://schemas.microsoft.com/office/drawing/2014/main" id="{78BBB453-F849-4EEB-B8DF-CEE3734C986D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" r="8"/>
          <a:stretch/>
        </p:blipFill>
        <p:spPr>
          <a:xfrm>
            <a:off x="1147462" y="1546608"/>
            <a:ext cx="3328524" cy="3114450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F5C58188-89E2-FE5C-156C-868941F087C1}"/>
              </a:ext>
            </a:extLst>
          </p:cNvPr>
          <p:cNvGrpSpPr/>
          <p:nvPr/>
        </p:nvGrpSpPr>
        <p:grpSpPr>
          <a:xfrm>
            <a:off x="8724140" y="1629163"/>
            <a:ext cx="2783646" cy="1442519"/>
            <a:chOff x="4846919" y="2443944"/>
            <a:chExt cx="2783646" cy="1442519"/>
          </a:xfrm>
        </p:grpSpPr>
        <p:pic>
          <p:nvPicPr>
            <p:cNvPr id="12" name="Picture 8" descr="Baús Frigoríficos - Pavan Carrocerias Frigoríficas">
              <a:extLst>
                <a:ext uri="{FF2B5EF4-FFF2-40B4-BE49-F238E27FC236}">
                  <a16:creationId xmlns:a16="http://schemas.microsoft.com/office/drawing/2014/main" id="{DBBC97A7-35BA-F0DB-357C-525BE0F47E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6919" y="2443944"/>
              <a:ext cx="2783646" cy="1442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Imagem 1">
              <a:extLst>
                <a:ext uri="{FF2B5EF4-FFF2-40B4-BE49-F238E27FC236}">
                  <a16:creationId xmlns:a16="http://schemas.microsoft.com/office/drawing/2014/main" id="{61FA8193-8031-421C-8D8C-48B117D607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654" t="26500" r="23568" b="25957"/>
            <a:stretch/>
          </p:blipFill>
          <p:spPr>
            <a:xfrm>
              <a:off x="6251249" y="2711965"/>
              <a:ext cx="707701" cy="487379"/>
            </a:xfrm>
            <a:prstGeom prst="rect">
              <a:avLst/>
            </a:prstGeom>
          </p:spPr>
        </p:pic>
      </p:grpSp>
      <p:pic>
        <p:nvPicPr>
          <p:cNvPr id="5" name="Imagem 4" descr="Tela de celula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C26FB5E2-C8CC-5B6D-36BA-F16F7B000C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133" y="3463152"/>
            <a:ext cx="1766572" cy="1742913"/>
          </a:xfrm>
          <a:prstGeom prst="rect">
            <a:avLst/>
          </a:prstGeom>
        </p:spPr>
      </p:pic>
      <p:pic>
        <p:nvPicPr>
          <p:cNvPr id="11" name="Imagem 10" descr="Desenho de um cachorro&#10;&#10;O conteúdo gerado por IA pode estar incorreto.">
            <a:extLst>
              <a:ext uri="{FF2B5EF4-FFF2-40B4-BE49-F238E27FC236}">
                <a16:creationId xmlns:a16="http://schemas.microsoft.com/office/drawing/2014/main" id="{3CB76A50-652C-0F54-148A-5BE565A953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070" y="3457645"/>
            <a:ext cx="1766739" cy="1789684"/>
          </a:xfrm>
          <a:prstGeom prst="rect">
            <a:avLst/>
          </a:prstGeom>
        </p:spPr>
      </p:pic>
      <p:pic>
        <p:nvPicPr>
          <p:cNvPr id="17" name="Imagem 16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081A47FD-5A6B-EB75-EA6E-A251BCCEA7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841" y="3457645"/>
            <a:ext cx="1748485" cy="177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478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2E38-D90C-5307-3EEE-BA8967454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ela 15">
            <a:extLst>
              <a:ext uri="{FF2B5EF4-FFF2-40B4-BE49-F238E27FC236}">
                <a16:creationId xmlns:a16="http://schemas.microsoft.com/office/drawing/2014/main" id="{55F0BC1B-2CBA-57F2-1172-CA44021AA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752581"/>
              </p:ext>
            </p:extLst>
          </p:nvPr>
        </p:nvGraphicFramePr>
        <p:xfrm>
          <a:off x="24062" y="865786"/>
          <a:ext cx="12134949" cy="10287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70021">
                  <a:extLst>
                    <a:ext uri="{9D8B030D-6E8A-4147-A177-3AD203B41FA5}">
                      <a16:colId xmlns:a16="http://schemas.microsoft.com/office/drawing/2014/main" val="384706567"/>
                    </a:ext>
                  </a:extLst>
                </a:gridCol>
                <a:gridCol w="1696453">
                  <a:extLst>
                    <a:ext uri="{9D8B030D-6E8A-4147-A177-3AD203B41FA5}">
                      <a16:colId xmlns:a16="http://schemas.microsoft.com/office/drawing/2014/main" val="512943861"/>
                    </a:ext>
                  </a:extLst>
                </a:gridCol>
                <a:gridCol w="1479884">
                  <a:extLst>
                    <a:ext uri="{9D8B030D-6E8A-4147-A177-3AD203B41FA5}">
                      <a16:colId xmlns:a16="http://schemas.microsoft.com/office/drawing/2014/main" val="2446122590"/>
                    </a:ext>
                  </a:extLst>
                </a:gridCol>
                <a:gridCol w="1082842">
                  <a:extLst>
                    <a:ext uri="{9D8B030D-6E8A-4147-A177-3AD203B41FA5}">
                      <a16:colId xmlns:a16="http://schemas.microsoft.com/office/drawing/2014/main" val="2438381391"/>
                    </a:ext>
                  </a:extLst>
                </a:gridCol>
                <a:gridCol w="1215189">
                  <a:extLst>
                    <a:ext uri="{9D8B030D-6E8A-4147-A177-3AD203B41FA5}">
                      <a16:colId xmlns:a16="http://schemas.microsoft.com/office/drawing/2014/main" val="3451794111"/>
                    </a:ext>
                  </a:extLst>
                </a:gridCol>
                <a:gridCol w="799894">
                  <a:extLst>
                    <a:ext uri="{9D8B030D-6E8A-4147-A177-3AD203B41FA5}">
                      <a16:colId xmlns:a16="http://schemas.microsoft.com/office/drawing/2014/main" val="1760146592"/>
                    </a:ext>
                  </a:extLst>
                </a:gridCol>
                <a:gridCol w="1500845">
                  <a:extLst>
                    <a:ext uri="{9D8B030D-6E8A-4147-A177-3AD203B41FA5}">
                      <a16:colId xmlns:a16="http://schemas.microsoft.com/office/drawing/2014/main" val="455817242"/>
                    </a:ext>
                  </a:extLst>
                </a:gridCol>
                <a:gridCol w="835147">
                  <a:extLst>
                    <a:ext uri="{9D8B030D-6E8A-4147-A177-3AD203B41FA5}">
                      <a16:colId xmlns:a16="http://schemas.microsoft.com/office/drawing/2014/main" val="431909340"/>
                    </a:ext>
                  </a:extLst>
                </a:gridCol>
                <a:gridCol w="871458">
                  <a:extLst>
                    <a:ext uri="{9D8B030D-6E8A-4147-A177-3AD203B41FA5}">
                      <a16:colId xmlns:a16="http://schemas.microsoft.com/office/drawing/2014/main" val="2098382113"/>
                    </a:ext>
                  </a:extLst>
                </a:gridCol>
                <a:gridCol w="1040908">
                  <a:extLst>
                    <a:ext uri="{9D8B030D-6E8A-4147-A177-3AD203B41FA5}">
                      <a16:colId xmlns:a16="http://schemas.microsoft.com/office/drawing/2014/main" val="3426049648"/>
                    </a:ext>
                  </a:extLst>
                </a:gridCol>
                <a:gridCol w="842308">
                  <a:extLst>
                    <a:ext uri="{9D8B030D-6E8A-4147-A177-3AD203B41FA5}">
                      <a16:colId xmlns:a16="http://schemas.microsoft.com/office/drawing/2014/main" val="2119682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Data</a:t>
                      </a:r>
                      <a:r>
                        <a:rPr lang="pt-BR" sz="1200" baseline="0" dirty="0"/>
                        <a:t> do Sinistro</a:t>
                      </a:r>
                      <a:endParaRPr lang="pt-B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Origem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Destino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Carga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Transportadora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Placa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Motorista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Valor Carga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Prejuízo Estimado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 Tipo Carga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Faixa Temp.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5001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err="1"/>
                        <a:t>22/08/2025</a:t>
                      </a:r>
                      <a:endParaRPr lang="pt-B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err="1"/>
                        <a:t>CDPE</a:t>
                      </a:r>
                      <a:endParaRPr lang="pt-B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 ENTREGA - NTL - NATAL</a:t>
                      </a:r>
                      <a:endParaRPr lang="pt-B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115188</a:t>
                      </a:r>
                      <a:endParaRPr lang="pt-BR" sz="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TRANSPORTES TEIXEIRA</a:t>
                      </a:r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PDQ9B50 - PDJ9E49
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CARLOS HENRIQUE LEANDRO LIRA - CPF:044.525.614-11 - CEL:(81) 9916-62464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R$ 190910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R$ 36504</a:t>
                      </a:r>
                      <a:endParaRPr lang="pt-BR" sz="3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pt-BR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CONGELADA / RESFRIADA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-12° a -15° / 0° a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8510254"/>
                  </a:ext>
                </a:extLst>
              </a:tr>
            </a:tbl>
          </a:graphicData>
        </a:graphic>
      </p:graphicFrame>
      <p:graphicFrame>
        <p:nvGraphicFramePr>
          <p:cNvPr id="33" name="Tabela 16">
            <a:extLst>
              <a:ext uri="{FF2B5EF4-FFF2-40B4-BE49-F238E27FC236}">
                <a16:creationId xmlns:a16="http://schemas.microsoft.com/office/drawing/2014/main" id="{CB3EA96D-0762-BF7C-F1BA-FAF8492452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768480"/>
              </p:ext>
            </p:extLst>
          </p:nvPr>
        </p:nvGraphicFramePr>
        <p:xfrm>
          <a:off x="24061" y="2115682"/>
          <a:ext cx="12134949" cy="1155192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213494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257695">
                <a:tc>
                  <a:txBody>
                    <a:bodyPr/>
                    <a:lstStyle/>
                    <a:p>
                      <a:r>
                        <a:rPr lang="pt-BR" sz="1400" dirty="0"/>
                        <a:t>Resumo Ocorrência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r>
                        <a:rPr lang="pt-BR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Carga 115188 do dia 21/08/25 05:37 saiu de CDPE com 1 entrega (NTL-NATAL) e por volta do dia 22/08/25 13:00 ao descarregar os produtos da área resfriada observou que os produtos estavam congelados, a loja continou o a descarga e liberou o veículo somente após a liberação nos informou do sinistro. Solicitamos que o veículo retornasse a loja para análise do técnico e avaliação dos prejuízos. Em 25/08/25 09:45 segunda-feira cobrado da Brígida (84-99485679) o prejuízo apurado e laudo da qualidade. Em 25/08/25 recebemos o laudo e a planilha de prejuízo apurado no valor de R$ 35.479,11. Em 29/08/25 recebmos a planilha de prejuízo apurado corrigida, estava faltando a nota 13774 e valores corrigidos o correto é de R$ 35.470,13. Em 29/08/25 descarte iniciado e vai demorar mais 5 dias, previsão. Em 10/09/25 cobrado da Loja NTL o laudo e nota fiscal do descarte, cobrado o Denis Costa (denis_costa_1@carrefour.com) a avaliação no veículo. Em 16/09/25 enviado a nf do descarte no valor de R$ 8267,04 porém considerar somente R$ 1033,38 conforme informado pela Daniele Silva. Em análise seguradora.</a:t>
                      </a:r>
                      <a:endParaRPr lang="pt-B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pic>
        <p:nvPicPr>
          <p:cNvPr id="20" name="Imagem 19">
            <a:extLst>
              <a:ext uri="{FF2B5EF4-FFF2-40B4-BE49-F238E27FC236}">
                <a16:creationId xmlns:a16="http://schemas.microsoft.com/office/drawing/2014/main" id="{A24192D6-83FD-291A-B937-3F9A746EF7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49080"/>
            <a:ext cx="1491851" cy="790459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8ED6CF6C-C7C9-FEDA-D025-B47DAF557881}"/>
              </a:ext>
            </a:extLst>
          </p:cNvPr>
          <p:cNvSpPr txBox="1"/>
          <p:nvPr/>
        </p:nvSpPr>
        <p:spPr>
          <a:xfrm>
            <a:off x="1722220" y="14217"/>
            <a:ext cx="1058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65484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– PERDA TEMPERATURA –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CDPE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Jaboatão dos Guararapes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NATAL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PE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x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1 ENTREGA - NTL - NATAL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</a:p>
          <a:p>
            <a:r>
              <a:rPr lang="pt-BR" sz="1100" dirty="0">
                <a:solidFill>
                  <a:srgbClr val="FFC000"/>
                </a:solidFill>
                <a:latin typeface="Calibri" panose="020F0502020204030204" pitchFamily="34" charset="0"/>
              </a:rPr>
              <a:t>SINISTRO 65484 – PERDA TEMPERATURA – CDPE – (NATAL)
BACKOFFICE - SINISTROS</a:t>
            </a:r>
            <a:r>
              <a:rPr lang="pt-BR" dirty="0"/>
              <a:t> 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A02E1CD-E44B-BBBE-E543-296582838B3C}"/>
              </a:ext>
            </a:extLst>
          </p:cNvPr>
          <p:cNvCxnSpPr/>
          <p:nvPr/>
        </p:nvCxnSpPr>
        <p:spPr>
          <a:xfrm flipH="1">
            <a:off x="1722220" y="14217"/>
            <a:ext cx="1" cy="85156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ela 40">
            <a:extLst>
              <a:ext uri="{FF2B5EF4-FFF2-40B4-BE49-F238E27FC236}">
                <a16:creationId xmlns:a16="http://schemas.microsoft.com/office/drawing/2014/main" id="{95684447-BD9B-9A48-36F6-7AFD96FEE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236438"/>
              </p:ext>
            </p:extLst>
          </p:nvPr>
        </p:nvGraphicFramePr>
        <p:xfrm>
          <a:off x="24061" y="3291365"/>
          <a:ext cx="12134949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494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ANÁLISE DA VIAGEM – </a:t>
                      </a:r>
                      <a:r>
                        <a:rPr lang="pt-BR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21/08/2025 16:00</a:t>
                      </a:r>
                      <a:r>
                        <a:rPr lang="pt-BR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às</a:t>
                      </a:r>
                      <a:r>
                        <a:rPr lang="pt-BR" sz="14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b="1" kern="1200" baseline="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21/08/2025 17:00</a:t>
                      </a:r>
                      <a:endParaRPr lang="pt-BR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sp>
        <p:nvSpPr>
          <p:cNvPr id="2" name="AutoShape 2">
            <a:extLst>
              <a:ext uri="{FF2B5EF4-FFF2-40B4-BE49-F238E27FC236}">
                <a16:creationId xmlns:a16="http://schemas.microsoft.com/office/drawing/2014/main" id="{CF8A11D5-8310-3282-2201-18ECF6C4CB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16538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7F75CD7-36AC-AD4A-7B90-B9A37C3529E5}"/>
              </a:ext>
            </a:extLst>
          </p:cNvPr>
          <p:cNvSpPr txBox="1"/>
          <p:nvPr/>
        </p:nvSpPr>
        <p:spPr>
          <a:xfrm>
            <a:off x="8934402" y="3616656"/>
            <a:ext cx="3178835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MOTORISTA </a:t>
            </a:r>
          </a:p>
          <a:p>
            <a:r>
              <a:rPr lang="pt-BR" sz="1200" dirty="0" err="1"/>
              <a:t>CARLOS HENRIQUE LEANDRO LIRA - CPF:044.525.614-11 - CEL:(81) 9916-62464</a:t>
            </a:r>
            <a:endParaRPr lang="pt-BR" sz="500" dirty="0"/>
          </a:p>
          <a:p>
            <a:r>
              <a:rPr lang="pt-BR" sz="1200" dirty="0" err="1"/>
              <a:t>Qtde</a:t>
            </a:r>
            <a:r>
              <a:rPr lang="pt-BR" sz="1200" dirty="0"/>
              <a:t> de Cargas: </a:t>
            </a:r>
            <a:r>
              <a:rPr lang="pt-BR" sz="1200" dirty="0" err="1"/>
              <a:t>11</a:t>
            </a:r>
            <a:endParaRPr lang="pt-BR" sz="1200" dirty="0"/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217543B-1E14-17D0-1C0D-BBE3A08ED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506" y="4970672"/>
            <a:ext cx="1700541" cy="166559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D4CD897-161E-BEDA-C58B-921737432A8C}"/>
              </a:ext>
            </a:extLst>
          </p:cNvPr>
          <p:cNvSpPr txBox="1"/>
          <p:nvPr/>
        </p:nvSpPr>
        <p:spPr>
          <a:xfrm>
            <a:off x="45020" y="3621230"/>
            <a:ext cx="4785654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highlight>
                  <a:srgbClr val="FFFF00"/>
                </a:highlight>
              </a:rPr>
              <a:t>CRLV </a:t>
            </a:r>
          </a:p>
          <a:p>
            <a:r>
              <a:rPr lang="pt-BR" sz="1200" dirty="0">
                <a:highlight>
                  <a:srgbClr val="FFFF00"/>
                </a:highlight>
              </a:rPr>
              <a:t>RENAVAM  00698416775</a:t>
            </a:r>
          </a:p>
          <a:p>
            <a:r>
              <a:rPr lang="pt-BR" sz="1200" dirty="0">
                <a:highlight>
                  <a:srgbClr val="FFFF00"/>
                </a:highlight>
              </a:rPr>
              <a:t>ANO FAB/MODELO 1997</a:t>
            </a:r>
          </a:p>
          <a:p>
            <a:r>
              <a:rPr lang="pt-BR" sz="1200" dirty="0">
                <a:highlight>
                  <a:srgbClr val="FFFF00"/>
                </a:highlight>
              </a:rPr>
              <a:t>M/BENZ 1720</a:t>
            </a:r>
          </a:p>
          <a:p>
            <a:r>
              <a:rPr lang="pt-BR" sz="1200" dirty="0">
                <a:highlight>
                  <a:srgbClr val="FFFF00"/>
                </a:highlight>
              </a:rPr>
              <a:t>COR BRANCO</a:t>
            </a:r>
          </a:p>
          <a:p>
            <a:r>
              <a:rPr lang="pt-BR" sz="1200" dirty="0">
                <a:highlight>
                  <a:srgbClr val="FFFF00"/>
                </a:highlight>
              </a:rPr>
              <a:t>CABO FRIO RJ</a:t>
            </a:r>
          </a:p>
          <a:p>
            <a:r>
              <a:rPr lang="pt-BR" sz="1200" dirty="0">
                <a:highlight>
                  <a:srgbClr val="FFFF00"/>
                </a:highlight>
              </a:rPr>
              <a:t>PROP: CLAUDIO F. CABRAL</a:t>
            </a:r>
          </a:p>
          <a:p>
            <a:r>
              <a:rPr lang="pt-BR" sz="1200" dirty="0">
                <a:highlight>
                  <a:srgbClr val="FFFF00"/>
                </a:highlight>
              </a:rPr>
              <a:t>CPF: 659.639.207-44</a:t>
            </a: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4FAD3D5-8EEB-CE1D-D08F-3885502EAC54}"/>
              </a:ext>
            </a:extLst>
          </p:cNvPr>
          <p:cNvSpPr txBox="1"/>
          <p:nvPr/>
        </p:nvSpPr>
        <p:spPr>
          <a:xfrm>
            <a:off x="4830674" y="3612614"/>
            <a:ext cx="2142788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highlight>
                  <a:srgbClr val="FFFF00"/>
                </a:highlight>
              </a:rPr>
              <a:t>RASTREADOR</a:t>
            </a:r>
          </a:p>
          <a:p>
            <a:r>
              <a:rPr lang="pt-BR" sz="1200" dirty="0">
                <a:highlight>
                  <a:srgbClr val="FFFF00"/>
                </a:highlight>
              </a:rPr>
              <a:t>ID: 6020607</a:t>
            </a:r>
          </a:p>
          <a:p>
            <a:r>
              <a:rPr lang="pt-BR" sz="1200" dirty="0">
                <a:highlight>
                  <a:srgbClr val="FFFF00"/>
                </a:highlight>
              </a:rPr>
              <a:t>TECNOLOGIA OMNILINK</a:t>
            </a:r>
          </a:p>
          <a:p>
            <a:r>
              <a:rPr lang="pt-BR" sz="1200" dirty="0">
                <a:highlight>
                  <a:srgbClr val="FFFF00"/>
                </a:highlight>
              </a:rPr>
              <a:t>PRODUTO: RASTREADOR INTELIGENTE RI4484</a:t>
            </a:r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53694EA-4AD4-5D04-D538-DF7971ED9E95}"/>
              </a:ext>
            </a:extLst>
          </p:cNvPr>
          <p:cNvSpPr txBox="1"/>
          <p:nvPr/>
        </p:nvSpPr>
        <p:spPr>
          <a:xfrm>
            <a:off x="6973462" y="3621230"/>
            <a:ext cx="1960940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highlight>
                  <a:srgbClr val="FFFF00"/>
                </a:highlight>
              </a:rPr>
              <a:t>ANTT 055270311</a:t>
            </a:r>
          </a:p>
          <a:p>
            <a:r>
              <a:rPr lang="pt-BR" sz="1200" dirty="0">
                <a:highlight>
                  <a:srgbClr val="FFFF00"/>
                </a:highlight>
              </a:rPr>
              <a:t>CLAUDIO FERREIRA CABRAL</a:t>
            </a:r>
          </a:p>
          <a:p>
            <a:r>
              <a:rPr lang="pt-BR" sz="1200" dirty="0">
                <a:highlight>
                  <a:srgbClr val="FFFF00"/>
                </a:highlight>
              </a:rPr>
              <a:t>DESDE:23/08/2022</a:t>
            </a:r>
          </a:p>
          <a:p>
            <a:r>
              <a:rPr lang="pt-BR" sz="1200" dirty="0">
                <a:highlight>
                  <a:srgbClr val="FFFF00"/>
                </a:highlight>
              </a:rPr>
              <a:t>VÁLIDO: 23/08/2027</a:t>
            </a: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D1DE8C3-B6DB-819E-B580-D38E1FE0F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140" y="4655126"/>
            <a:ext cx="3005462" cy="215580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E51DCE1-34A7-8C24-0DE0-B7D60EEE54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389" y="5363580"/>
            <a:ext cx="1863086" cy="1257267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C56DA7A-D3E7-764B-503D-4FE2E811DE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2530" y="4734880"/>
            <a:ext cx="1840836" cy="190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685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48665-1EAC-27DC-10E8-F995CF26A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m 27">
            <a:extLst>
              <a:ext uri="{FF2B5EF4-FFF2-40B4-BE49-F238E27FC236}">
                <a16:creationId xmlns:a16="http://schemas.microsoft.com/office/drawing/2014/main" id="{A24192D6-83FD-291A-B937-3F9A746EF7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49080"/>
            <a:ext cx="1491851" cy="790459"/>
          </a:xfrm>
          <a:prstGeom prst="rect">
            <a:avLst/>
          </a:prstGeom>
        </p:spPr>
      </p:pic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7A02E1CD-E44B-BBBE-E543-296582838B3C}"/>
              </a:ext>
            </a:extLst>
          </p:cNvPr>
          <p:cNvCxnSpPr/>
          <p:nvPr/>
        </p:nvCxnSpPr>
        <p:spPr>
          <a:xfrm flipH="1">
            <a:off x="1722220" y="14217"/>
            <a:ext cx="1" cy="85156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8ED6CF6C-C7C9-FEDA-D025-B47DAF557881}"/>
              </a:ext>
            </a:extLst>
          </p:cNvPr>
          <p:cNvSpPr txBox="1"/>
          <p:nvPr/>
        </p:nvSpPr>
        <p:spPr>
          <a:xfrm>
            <a:off x="1722220" y="14217"/>
            <a:ext cx="1058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65484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– PERDA TEMPERATURA –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CDPE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Jaboatão dos Guararapes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NATAL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PE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x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1 ENTREGA - NTL - NATAL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</a:p>
          <a:p>
            <a:r>
              <a:rPr lang="pt-BR" sz="1100" dirty="0">
                <a:solidFill>
                  <a:srgbClr val="FFC000"/>
                </a:solidFill>
                <a:latin typeface="Calibri" panose="020F0502020204030204" pitchFamily="34" charset="0"/>
              </a:rPr>
              <a:t>SINISTRO 65484 – PERDA TEMPERATURA – CDPE – (NATAL)
BACKOFFICE - SINISTROS</a:t>
            </a:r>
            <a:r>
              <a:rPr lang="pt-BR" dirty="0"/>
              <a:t> 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BC8F5199-5F36-B73B-8E1D-5A2ABA1F56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902210"/>
              </p:ext>
            </p:extLst>
          </p:nvPr>
        </p:nvGraphicFramePr>
        <p:xfrm>
          <a:off x="0" y="816005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ANÁLISE DA VIAGEM – </a:t>
                      </a:r>
                      <a:r>
                        <a:rPr lang="pt-BR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21/08/2025 16:00</a:t>
                      </a:r>
                      <a:r>
                        <a:rPr lang="pt-BR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às</a:t>
                      </a:r>
                      <a:r>
                        <a:rPr lang="pt-BR" sz="14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b="1" kern="1200" baseline="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21/08/2025 17:00</a:t>
                      </a:r>
                      <a:endParaRPr lang="pt-BR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pic>
        <p:nvPicPr>
          <p:cNvPr id="4" name="Imagem 3">
            <a:extLst>
              <a:ext uri="{FF2B5EF4-FFF2-40B4-BE49-F238E27FC236}">
                <a16:creationId xmlns:a16="http://schemas.microsoft.com/office/drawing/2014/main" id="{CAD18158-F37C-C0C5-8351-369184E07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20805"/>
            <a:ext cx="12192000" cy="3105734"/>
          </a:xfrm>
          <a:prstGeom prst="rect">
            <a:avLst/>
          </a:prstGeom>
        </p:spPr>
      </p:pic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B8B1BC40-47E7-F312-B4FD-CF53A1FEA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687434"/>
              </p:ext>
            </p:extLst>
          </p:nvPr>
        </p:nvGraphicFramePr>
        <p:xfrm>
          <a:off x="8927" y="5564377"/>
          <a:ext cx="121830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3073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Time </a:t>
                      </a:r>
                      <a:r>
                        <a:rPr lang="pt-BR" sz="1400" dirty="0" err="1"/>
                        <a:t>Line</a:t>
                      </a:r>
                      <a:r>
                        <a:rPr lang="pt-BR" sz="1400" dirty="0"/>
                        <a:t> </a:t>
                      </a:r>
                      <a:r>
                        <a:rPr lang="pt-BR" sz="18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CDPE</a:t>
                      </a:r>
                      <a:r>
                        <a:rPr lang="pt-BR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dirty="0"/>
                        <a:t>&gt;&gt; </a:t>
                      </a:r>
                      <a:r>
                        <a:rPr lang="pt-BR" sz="1400" dirty="0" err="1"/>
                        <a:t>NATAL</a:t>
                      </a:r>
                      <a:endParaRPr lang="pt-B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1523F1D7-DD54-C027-8224-21BFEEBC148C}"/>
              </a:ext>
            </a:extLst>
          </p:cNvPr>
          <p:cNvSpPr txBox="1"/>
          <p:nvPr/>
        </p:nvSpPr>
        <p:spPr>
          <a:xfrm>
            <a:off x="40855" y="5932424"/>
            <a:ext cx="1853976" cy="4616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ENCOSTA EM DOCA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21/08/2025 15:30</a:t>
            </a:r>
            <a:endParaRPr lang="pt-BR" sz="1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EBBA899-8CC6-FA98-716B-3E6A531BE385}"/>
              </a:ext>
            </a:extLst>
          </p:cNvPr>
          <p:cNvSpPr txBox="1"/>
          <p:nvPr/>
        </p:nvSpPr>
        <p:spPr>
          <a:xfrm>
            <a:off x="4111057" y="5935660"/>
            <a:ext cx="1853976" cy="4616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FIM CARREGAMENTO: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21/08/2025 17:00</a:t>
            </a:r>
            <a:r>
              <a:rPr lang="pt-BR" sz="1200" dirty="0"/>
              <a:t>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8A94AB1-FDFB-DCDF-E567-C1E16E08C468}"/>
              </a:ext>
            </a:extLst>
          </p:cNvPr>
          <p:cNvSpPr txBox="1"/>
          <p:nvPr/>
        </p:nvSpPr>
        <p:spPr>
          <a:xfrm>
            <a:off x="8215787" y="5932422"/>
            <a:ext cx="1853976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DE VIAGEM</a:t>
            </a:r>
            <a:endParaRPr lang="pt-BR" sz="1200" dirty="0"/>
          </a:p>
          <a:p>
            <a:r>
              <a:rPr lang="pt-BR" sz="1200" dirty="0"/>
              <a:t>DATA: </a:t>
            </a:r>
            <a:r>
              <a:rPr lang="pt-BR" sz="1200" dirty="0" err="1"/>
              <a:t>22/08/2025 05:37</a:t>
            </a:r>
            <a:endParaRPr lang="pt-BR" sz="12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468C1FC-7080-7332-FBB8-8B77F40C59F2}"/>
              </a:ext>
            </a:extLst>
          </p:cNvPr>
          <p:cNvSpPr txBox="1"/>
          <p:nvPr/>
        </p:nvSpPr>
        <p:spPr>
          <a:xfrm>
            <a:off x="10292126" y="5932422"/>
            <a:ext cx="1853976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CHEGADA EM LOJA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22/08/2025 13:07</a:t>
            </a:r>
            <a:endParaRPr lang="pt-BR" sz="12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FA589E6-2CE4-FF3D-F871-6C9BB4E1AE81}"/>
              </a:ext>
            </a:extLst>
          </p:cNvPr>
          <p:cNvSpPr txBox="1"/>
          <p:nvPr/>
        </p:nvSpPr>
        <p:spPr>
          <a:xfrm>
            <a:off x="6170933" y="5937265"/>
            <a:ext cx="1853976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</a:rPr>
              <a:t>EMISSÃO NF</a:t>
            </a:r>
            <a:r>
              <a:rPr lang="pt-BR" sz="1200" dirty="0">
                <a:solidFill>
                  <a:schemeClr val="tx1"/>
                </a:solidFill>
              </a:rPr>
              <a:t> </a:t>
            </a:r>
          </a:p>
          <a:p>
            <a:r>
              <a:rPr lang="pt-BR" sz="1200" dirty="0">
                <a:solidFill>
                  <a:schemeClr val="tx1"/>
                </a:solidFill>
              </a:rPr>
              <a:t>DATA: </a:t>
            </a:r>
            <a:r>
              <a:rPr lang="pt-BR" sz="1200" dirty="0" err="1">
                <a:solidFill>
                  <a:schemeClr val="tx1"/>
                </a:solidFill>
              </a:rPr>
              <a:t>21/08/2025 19:48</a:t>
            </a: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519FF22-AE0C-6459-B491-3FAE0E2D24C8}"/>
              </a:ext>
            </a:extLst>
          </p:cNvPr>
          <p:cNvSpPr txBox="1"/>
          <p:nvPr/>
        </p:nvSpPr>
        <p:spPr>
          <a:xfrm>
            <a:off x="2058692" y="5935660"/>
            <a:ext cx="1853976" cy="4616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CARREGAMENTO</a:t>
            </a:r>
            <a:r>
              <a:rPr lang="pt-BR" sz="1200" dirty="0"/>
              <a:t>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21/08/2025 16:00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173869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2E38-D90C-5307-3EEE-BA8967454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>
            <a:extLst>
              <a:ext uri="{FF2B5EF4-FFF2-40B4-BE49-F238E27FC236}">
                <a16:creationId xmlns:a16="http://schemas.microsoft.com/office/drawing/2014/main" id="{A24192D6-83FD-291A-B937-3F9A746EF7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49080"/>
            <a:ext cx="1491851" cy="790459"/>
          </a:xfrm>
          <a:prstGeom prst="rect">
            <a:avLst/>
          </a:prstGeom>
        </p:spPr>
      </p:pic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A02E1CD-E44B-BBBE-E543-296582838B3C}"/>
              </a:ext>
            </a:extLst>
          </p:cNvPr>
          <p:cNvCxnSpPr/>
          <p:nvPr/>
        </p:nvCxnSpPr>
        <p:spPr>
          <a:xfrm flipH="1">
            <a:off x="1722220" y="14217"/>
            <a:ext cx="1" cy="85156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3AD03C3B-7F56-D783-8B28-6A1358755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637989"/>
              </p:ext>
            </p:extLst>
          </p:nvPr>
        </p:nvGraphicFramePr>
        <p:xfrm>
          <a:off x="0" y="4410989"/>
          <a:ext cx="121830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3073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Time </a:t>
                      </a:r>
                      <a:r>
                        <a:rPr lang="pt-BR" sz="1400" dirty="0" err="1"/>
                        <a:t>Line</a:t>
                      </a:r>
                      <a:r>
                        <a:rPr lang="pt-BR" sz="1400" dirty="0"/>
                        <a:t> </a:t>
                      </a:r>
                      <a:r>
                        <a:rPr lang="pt-BR" sz="18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CDPE</a:t>
                      </a:r>
                      <a:r>
                        <a:rPr lang="pt-BR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dirty="0"/>
                        <a:t>&gt;&gt; </a:t>
                      </a:r>
                      <a:r>
                        <a:rPr lang="pt-BR" sz="1400" dirty="0" err="1"/>
                        <a:t>NATAL</a:t>
                      </a:r>
                      <a:endParaRPr lang="pt-B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95C1CC23-6C68-E125-7623-A2BCCB6DE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900901"/>
              </p:ext>
            </p:extLst>
          </p:nvPr>
        </p:nvGraphicFramePr>
        <p:xfrm>
          <a:off x="33305" y="5269197"/>
          <a:ext cx="6062696" cy="157204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6062696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281611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bg1"/>
                          </a:solidFill>
                        </a:rPr>
                        <a:t>Percurso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1267249">
                <a:tc>
                  <a:txBody>
                    <a:bodyPr/>
                    <a:lstStyle/>
                    <a:p>
                      <a:r>
                        <a:rPr lang="pt-BR" sz="1200" kern="1200" dirty="0">
                          <a:solidFill>
                            <a:schemeClr val="tx1"/>
                          </a:solidFill>
                        </a:rPr>
                        <a:t>Não foi</a:t>
                      </a:r>
                      <a:r>
                        <a:rPr lang="pt-BR" sz="1200" kern="1200" baseline="0" dirty="0">
                          <a:solidFill>
                            <a:schemeClr val="tx1"/>
                          </a:solidFill>
                        </a:rPr>
                        <a:t> observada variações de temperatura fora do recomendado no ambiente congelado, exceto no recebimento das lojas.</a:t>
                      </a:r>
                      <a:endParaRPr lang="pt-BR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graphicFrame>
        <p:nvGraphicFramePr>
          <p:cNvPr id="21" name="Tabela 16">
            <a:extLst>
              <a:ext uri="{FF2B5EF4-FFF2-40B4-BE49-F238E27FC236}">
                <a16:creationId xmlns:a16="http://schemas.microsoft.com/office/drawing/2014/main" id="{7B9B6B79-34C4-D0F2-F23B-BE3A8A795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791114"/>
              </p:ext>
            </p:extLst>
          </p:nvPr>
        </p:nvGraphicFramePr>
        <p:xfrm>
          <a:off x="6151036" y="5281228"/>
          <a:ext cx="5984479" cy="1536828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598447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13638">
                <a:tc>
                  <a:txBody>
                    <a:bodyPr/>
                    <a:lstStyle/>
                    <a:p>
                      <a:r>
                        <a:rPr lang="pt-BR" sz="1400" dirty="0"/>
                        <a:t>Conclusão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12231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 acordo com as informações e apuração das fotos recebidas, o</a:t>
                      </a:r>
                      <a:r>
                        <a:rPr lang="pt-BR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CD expedidor efetuou a montagem da divisória corretamente, tanto que não houve reclamação da loja 6277 Linha amarela, porém a loja 4060-Barra não efetuou a instalação adequada deixando espaço no teto que foram os responsáveis pela variação de temperatura  no ambiente resfriado onde o recomendado é de 0° a 4° e o apurado foi de até –1,7° ocas</a:t>
                      </a:r>
                      <a:r>
                        <a:rPr lang="pt-BR" sz="1200" dirty="0"/>
                        <a:t>ionando um prejuízo na Loja 6268 – Niterói </a:t>
                      </a:r>
                      <a:r>
                        <a:rPr lang="pt-BR" sz="1200" baseline="0" dirty="0"/>
                        <a:t>de </a:t>
                      </a:r>
                      <a:r>
                        <a:rPr lang="pt-BR" sz="1200" dirty="0"/>
                        <a:t>R$ 74.925.</a:t>
                      </a:r>
                      <a:endParaRPr lang="pt-B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sp>
        <p:nvSpPr>
          <p:cNvPr id="26" name="CaixaDeTexto 25">
            <a:extLst>
              <a:ext uri="{FF2B5EF4-FFF2-40B4-BE49-F238E27FC236}">
                <a16:creationId xmlns:a16="http://schemas.microsoft.com/office/drawing/2014/main" id="{C858C51C-1F45-D71F-A53E-5BE1D7BBB1DD}"/>
              </a:ext>
            </a:extLst>
          </p:cNvPr>
          <p:cNvSpPr txBox="1"/>
          <p:nvPr/>
        </p:nvSpPr>
        <p:spPr>
          <a:xfrm>
            <a:off x="8936182" y="1171480"/>
            <a:ext cx="3199332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CONDIÇÕES CLIMÁTICAS:</a:t>
            </a:r>
          </a:p>
          <a:p>
            <a:r>
              <a:rPr lang="pt-BR" sz="1200" b="1" dirty="0">
                <a:solidFill>
                  <a:schemeClr val="tx1"/>
                </a:solidFill>
              </a:rPr>
              <a:t>DO LOCAL:</a:t>
            </a:r>
          </a:p>
          <a:p>
            <a:r>
              <a:rPr lang="pt-BR" sz="1200" b="1" dirty="0">
                <a:solidFill>
                  <a:schemeClr val="tx1"/>
                </a:solidFill>
              </a:rPr>
              <a:t>FATORES RELEVANTES:</a:t>
            </a: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5D05CED-2AC0-158F-BE0C-37E4DB7DC8B3}"/>
              </a:ext>
            </a:extLst>
          </p:cNvPr>
          <p:cNvSpPr txBox="1"/>
          <p:nvPr/>
        </p:nvSpPr>
        <p:spPr>
          <a:xfrm>
            <a:off x="21537" y="4768645"/>
            <a:ext cx="1853976" cy="4616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ENCOSTA EM DOCA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21/08/2025 15:30</a:t>
            </a:r>
            <a:endParaRPr lang="pt-BR" sz="1200" dirty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B25B689B-774D-A7B6-D202-EFC0D1BBC32A}"/>
              </a:ext>
            </a:extLst>
          </p:cNvPr>
          <p:cNvSpPr txBox="1"/>
          <p:nvPr/>
        </p:nvSpPr>
        <p:spPr>
          <a:xfrm>
            <a:off x="2044342" y="4780143"/>
            <a:ext cx="1853976" cy="4616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CARREGAMENTO</a:t>
            </a:r>
            <a:r>
              <a:rPr lang="pt-BR" sz="1200" dirty="0"/>
              <a:t>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21/08/2025 16:00</a:t>
            </a:r>
            <a:endParaRPr lang="pt-BR" sz="1200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28F3AAD1-09C4-79F0-3E2F-26EF22CBB35C}"/>
              </a:ext>
            </a:extLst>
          </p:cNvPr>
          <p:cNvSpPr txBox="1"/>
          <p:nvPr/>
        </p:nvSpPr>
        <p:spPr>
          <a:xfrm>
            <a:off x="4091739" y="4771881"/>
            <a:ext cx="1853976" cy="4616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FIM CARREGAMENTO: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21/08/2025 17:00</a:t>
            </a:r>
            <a:r>
              <a:rPr lang="pt-BR" sz="1200" dirty="0"/>
              <a:t> 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5D2DFC6-96A8-0FA9-498D-0F040EA8B65A}"/>
              </a:ext>
            </a:extLst>
          </p:cNvPr>
          <p:cNvSpPr txBox="1"/>
          <p:nvPr/>
        </p:nvSpPr>
        <p:spPr>
          <a:xfrm>
            <a:off x="8196469" y="4768643"/>
            <a:ext cx="1853976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DE VIAGEM</a:t>
            </a:r>
            <a:endParaRPr lang="pt-BR" sz="1200" dirty="0"/>
          </a:p>
          <a:p>
            <a:r>
              <a:rPr lang="pt-BR" sz="1200" dirty="0"/>
              <a:t>DATA: </a:t>
            </a:r>
            <a:r>
              <a:rPr lang="pt-BR" sz="1200" dirty="0" err="1"/>
              <a:t>22/08/2025 05:37</a:t>
            </a:r>
            <a:endParaRPr lang="pt-BR" sz="1200" dirty="0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757025E-FE8B-D0DA-5533-A0B6018CB3BC}"/>
              </a:ext>
            </a:extLst>
          </p:cNvPr>
          <p:cNvSpPr txBox="1"/>
          <p:nvPr/>
        </p:nvSpPr>
        <p:spPr>
          <a:xfrm>
            <a:off x="10272808" y="4768643"/>
            <a:ext cx="1853976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CHEGADA EM LOJA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22/08/2025 13:07</a:t>
            </a:r>
            <a:endParaRPr lang="pt-BR" sz="1200" dirty="0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FC398AA6-AF9B-78C6-2A61-065D8D3C24DC}"/>
              </a:ext>
            </a:extLst>
          </p:cNvPr>
          <p:cNvSpPr txBox="1"/>
          <p:nvPr/>
        </p:nvSpPr>
        <p:spPr>
          <a:xfrm>
            <a:off x="6151615" y="4773486"/>
            <a:ext cx="1853976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</a:rPr>
              <a:t>EMISSÃO NF</a:t>
            </a:r>
            <a:r>
              <a:rPr lang="pt-BR" sz="1200" dirty="0">
                <a:solidFill>
                  <a:schemeClr val="tx1"/>
                </a:solidFill>
              </a:rPr>
              <a:t> </a:t>
            </a:r>
          </a:p>
          <a:p>
            <a:r>
              <a:rPr lang="pt-BR" sz="1200" dirty="0">
                <a:solidFill>
                  <a:schemeClr val="tx1"/>
                </a:solidFill>
              </a:rPr>
              <a:t>DATA: </a:t>
            </a:r>
            <a:r>
              <a:rPr lang="pt-BR" sz="1200" dirty="0" err="1">
                <a:solidFill>
                  <a:schemeClr val="tx1"/>
                </a:solidFill>
              </a:rPr>
              <a:t>21/08/2025 19:48</a:t>
            </a: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B14BE1D-EEAB-D793-5874-582D574FE533}"/>
              </a:ext>
            </a:extLst>
          </p:cNvPr>
          <p:cNvSpPr txBox="1"/>
          <p:nvPr/>
        </p:nvSpPr>
        <p:spPr>
          <a:xfrm>
            <a:off x="29436" y="1176653"/>
            <a:ext cx="8850260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FOTOS DO LOCAL DA ABORDAGEM</a:t>
            </a:r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dirty="0"/>
          </a:p>
          <a:p>
            <a:endParaRPr lang="pt-BR" sz="1200" dirty="0"/>
          </a:p>
          <a:p>
            <a:endParaRPr lang="pt-BR" sz="1200" dirty="0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8ED6CF6C-C7C9-FEDA-D025-B47DAF557881}"/>
              </a:ext>
            </a:extLst>
          </p:cNvPr>
          <p:cNvSpPr txBox="1"/>
          <p:nvPr/>
        </p:nvSpPr>
        <p:spPr>
          <a:xfrm>
            <a:off x="1722220" y="14217"/>
            <a:ext cx="1058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65484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– PERDA TEMPERATURA –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CDPE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Jaboatão dos Guararapes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NATAL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PE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x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1 ENTREGA - NTL - NATAL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</a:p>
          <a:p>
            <a:r>
              <a:rPr lang="pt-BR" sz="1100" dirty="0">
                <a:solidFill>
                  <a:srgbClr val="FFC000"/>
                </a:solidFill>
                <a:latin typeface="Calibri" panose="020F0502020204030204" pitchFamily="34" charset="0"/>
              </a:rPr>
              <a:t>SINISTRO 65484 – PERDA TEMPERATURA – CDPE – (NATAL)
BACKOFFICE - SINISTROS</a:t>
            </a:r>
            <a:r>
              <a:rPr lang="pt-BR" dirty="0"/>
              <a:t> 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978B2E64-96D9-581F-E502-1FCA2204FA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293086"/>
              </p:ext>
            </p:extLst>
          </p:nvPr>
        </p:nvGraphicFramePr>
        <p:xfrm>
          <a:off x="24061" y="851071"/>
          <a:ext cx="12167939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793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ANÁLISE DA VIAGEM – </a:t>
                      </a:r>
                      <a:r>
                        <a:rPr lang="pt-BR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21/08/2025 16:00</a:t>
                      </a:r>
                      <a:r>
                        <a:rPr lang="pt-BR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às</a:t>
                      </a:r>
                      <a:r>
                        <a:rPr lang="pt-BR" sz="14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b="1" kern="1200" baseline="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21/08/2025 17:00</a:t>
                      </a:r>
                      <a:endParaRPr lang="pt-BR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pic>
        <p:nvPicPr>
          <p:cNvPr id="7" name="Imagem 6" descr="Caminhão de lixo&#10;&#10;O conteúdo gerado por IA pode estar incorreto.">
            <a:extLst>
              <a:ext uri="{FF2B5EF4-FFF2-40B4-BE49-F238E27FC236}">
                <a16:creationId xmlns:a16="http://schemas.microsoft.com/office/drawing/2014/main" id="{DB2CDCDA-7863-642B-77BB-0AC5377F3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54" y="1561808"/>
            <a:ext cx="3199332" cy="2399499"/>
          </a:xfrm>
          <a:prstGeom prst="rect">
            <a:avLst/>
          </a:prstGeom>
        </p:spPr>
      </p:pic>
      <p:pic>
        <p:nvPicPr>
          <p:cNvPr id="9" name="Imagem 8" descr="Uma imagem contendo bolsa, comida, diferente, mesa&#10;&#10;O conteúdo gerado por IA pode estar incorreto.">
            <a:extLst>
              <a:ext uri="{FF2B5EF4-FFF2-40B4-BE49-F238E27FC236}">
                <a16:creationId xmlns:a16="http://schemas.microsoft.com/office/drawing/2014/main" id="{1FDA61ED-FB7D-7B60-B1E7-5C18990237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113066" y="1847748"/>
            <a:ext cx="2415497" cy="1811623"/>
          </a:xfrm>
          <a:prstGeom prst="rect">
            <a:avLst/>
          </a:prstGeom>
        </p:spPr>
      </p:pic>
      <p:pic>
        <p:nvPicPr>
          <p:cNvPr id="11" name="Imagem 10" descr="Uma imagem contendo pessoa, ao ar livre, estrada, caminhão&#10;&#10;O conteúdo gerado por IA pode estar incorreto.">
            <a:extLst>
              <a:ext uri="{FF2B5EF4-FFF2-40B4-BE49-F238E27FC236}">
                <a16:creationId xmlns:a16="http://schemas.microsoft.com/office/drawing/2014/main" id="{3625760E-6632-4956-670B-4A4C019569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743" y="2013644"/>
            <a:ext cx="3194236" cy="179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191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134629</TotalTime>
  <Words>529</Words>
  <Application>Microsoft Office PowerPoint</Application>
  <PresentationFormat>Widescreen</PresentationFormat>
  <Paragraphs>156</Paragraphs>
  <Slides>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2" baseType="lpstr">
      <vt:lpstr>Aptos</vt:lpstr>
      <vt:lpstr>Arial</vt:lpstr>
      <vt:lpstr>Bookman Old Style</vt:lpstr>
      <vt:lpstr>Calibri</vt:lpstr>
      <vt:lpstr>Calibri Light</vt:lpstr>
      <vt:lpstr>Montserrat</vt:lpstr>
      <vt:lpstr>Montserrat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Ocorrência de Falta de Mercadorias na Loja Transportadora: GVM Carga: 499500015328 Origem: CD Cajamar/SP Destino: 4857 Barigui/PR</dc:title>
  <dc:creator>Samantha Campos</dc:creator>
  <cp:lastModifiedBy>Fabio Alves Cordeiro</cp:lastModifiedBy>
  <cp:revision>310</cp:revision>
  <dcterms:created xsi:type="dcterms:W3CDTF">2023-01-09T13:48:52Z</dcterms:created>
  <dcterms:modified xsi:type="dcterms:W3CDTF">2025-09-28T15:08:51Z</dcterms:modified>
</cp:coreProperties>
</file>